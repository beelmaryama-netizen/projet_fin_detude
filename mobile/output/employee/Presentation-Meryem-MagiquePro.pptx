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0fb786bd9241d0" /><Relationship Type="http://schemas.openxmlformats.org/officeDocument/2006/relationships/extended-properties" Target="/docProps/app.xml" Id="Rda46485095cf4b04" /><Relationship Type="http://schemas.openxmlformats.org/officeDocument/2006/relationships/officeDocument" Target="/ppt/presentation.xml" Id="Radb43a30055f4df2" /></Relationships>
</file>

<file path=ppt/presentation.xml><?xml version="1.0" encoding="utf-8"?>
<p:presentation xmlns:p="http://schemas.openxmlformats.org/presentationml/2006/main">
  <p:sldMasterIdLst>
    <p:sldMasterId xmlns:r="http://schemas.openxmlformats.org/officeDocument/2006/relationships" id="2147483648" r:id="R16d07330088b4e92"/>
  </p:sldMasterIdLst>
  <p:notesMasterIdLst>
    <p:notesMasterId xmlns:r="http://schemas.openxmlformats.org/officeDocument/2006/relationships" r:id="R3af48a077b52428e"/>
  </p:notesMasterIdLst>
  <p:sldIdLst>
    <p:sldId xmlns:r="http://schemas.openxmlformats.org/officeDocument/2006/relationships" id="256" r:id="R8dd87a1738044dfe"/>
    <p:sldId xmlns:r="http://schemas.openxmlformats.org/officeDocument/2006/relationships" id="257" r:id="Rcdb8b2d364794459"/>
    <p:sldId xmlns:r="http://schemas.openxmlformats.org/officeDocument/2006/relationships" id="258" r:id="R58f1d99397f04e8d"/>
    <p:sldId xmlns:r="http://schemas.openxmlformats.org/officeDocument/2006/relationships" id="259" r:id="Rcada433140b544ab"/>
    <p:sldId xmlns:r="http://schemas.openxmlformats.org/officeDocument/2006/relationships" id="260" r:id="Rbe3ed4cf38dc42f7"/>
    <p:sldId xmlns:r="http://schemas.openxmlformats.org/officeDocument/2006/relationships" id="261" r:id="R0bebb2805968427b"/>
    <p:sldId xmlns:r="http://schemas.openxmlformats.org/officeDocument/2006/relationships" id="262" r:id="Rd55b068a7f134604"/>
    <p:sldId xmlns:r="http://schemas.openxmlformats.org/officeDocument/2006/relationships" id="263" r:id="R76077d6758c34a10"/>
    <p:sldId xmlns:r="http://schemas.openxmlformats.org/officeDocument/2006/relationships" id="264" r:id="R4989dfbbed6f4758"/>
    <p:sldId xmlns:r="http://schemas.openxmlformats.org/officeDocument/2006/relationships" id="265" r:id="R1f167609a69845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71fb9dcf20482b" /><Relationship Type="http://schemas.openxmlformats.org/officeDocument/2006/relationships/slideMaster" Target="/ppt/slideMasters/slideMaster1.xml" Id="R16d07330088b4e92" /><Relationship Type="http://schemas.openxmlformats.org/officeDocument/2006/relationships/notesMaster" Target="/ppt/notesMasters/notesMaster1.xml" Id="R3af48a077b52428e" /><Relationship Type="http://schemas.openxmlformats.org/officeDocument/2006/relationships/presProps" Target="/ppt/presProps.xml" Id="R016f4401dab94b76" /><Relationship Type="http://schemas.openxmlformats.org/officeDocument/2006/relationships/tableStyles" Target="/ppt/tableStyles.xml" Id="Rf1a7165d21014c3c" /><Relationship Type="http://schemas.openxmlformats.org/officeDocument/2006/relationships/slide" Target="/ppt/slides/slide1.xml" Id="R8dd87a1738044dfe" /><Relationship Type="http://schemas.openxmlformats.org/officeDocument/2006/relationships/slide" Target="/ppt/slides/slide2.xml" Id="Rcdb8b2d364794459" /><Relationship Type="http://schemas.openxmlformats.org/officeDocument/2006/relationships/slide" Target="/ppt/slides/slide3.xml" Id="R58f1d99397f04e8d" /><Relationship Type="http://schemas.openxmlformats.org/officeDocument/2006/relationships/slide" Target="/ppt/slides/slide4.xml" Id="Rcada433140b544ab" /><Relationship Type="http://schemas.openxmlformats.org/officeDocument/2006/relationships/slide" Target="/ppt/slides/slide5.xml" Id="Rbe3ed4cf38dc42f7" /><Relationship Type="http://schemas.openxmlformats.org/officeDocument/2006/relationships/slide" Target="/ppt/slides/slide6.xml" Id="R0bebb2805968427b" /><Relationship Type="http://schemas.openxmlformats.org/officeDocument/2006/relationships/slide" Target="/ppt/slides/slide7.xml" Id="Rd55b068a7f134604" /><Relationship Type="http://schemas.openxmlformats.org/officeDocument/2006/relationships/slide" Target="/ppt/slides/slide8.xml" Id="R76077d6758c34a10" /><Relationship Type="http://schemas.openxmlformats.org/officeDocument/2006/relationships/slide" Target="/ppt/slides/slide9.xml" Id="R4989dfbbed6f4758" /><Relationship Type="http://schemas.openxmlformats.org/officeDocument/2006/relationships/slide" Target="/ppt/slides/slide10.xml" Id="R1f167609a69845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bc4a5cdb5543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93593c1f6e4587" /><Relationship Type="http://schemas.openxmlformats.org/officeDocument/2006/relationships/notesMaster" Target="/ppt/notesMasters/notesMaster1.xml" Id="R88472feb71584b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7a4a1d38354d32" /><Relationship Type="http://schemas.openxmlformats.org/officeDocument/2006/relationships/notesMaster" Target="/ppt/notesMasters/notesMaster1.xml" Id="R0903ba4a040d40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c609d87e64d2d" /><Relationship Type="http://schemas.openxmlformats.org/officeDocument/2006/relationships/notesMaster" Target="/ppt/notesMasters/notesMaster1.xml" Id="R7cfcd56ecd5441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448c88cc6444e9" /><Relationship Type="http://schemas.openxmlformats.org/officeDocument/2006/relationships/notesMaster" Target="/ppt/notesMasters/notesMaster1.xml" Id="Rfbeaa04bf6b348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0515a4042c49c6" /><Relationship Type="http://schemas.openxmlformats.org/officeDocument/2006/relationships/notesMaster" Target="/ppt/notesMasters/notesMaster1.xml" Id="R3ed9247efdc54e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2a7ac1b29944a8" /><Relationship Type="http://schemas.openxmlformats.org/officeDocument/2006/relationships/notesMaster" Target="/ppt/notesMasters/notesMaster1.xml" Id="R72d7b1d7477a4e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04c803c3ba4193" /><Relationship Type="http://schemas.openxmlformats.org/officeDocument/2006/relationships/notesMaster" Target="/ppt/notesMasters/notesMaster1.xml" Id="R711767a28b7948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9eb1236dbd4bd5" /><Relationship Type="http://schemas.openxmlformats.org/officeDocument/2006/relationships/notesMaster" Target="/ppt/notesMasters/notesMaster1.xml" Id="R39718b1784e741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9e6f50797a416f" /><Relationship Type="http://schemas.openxmlformats.org/officeDocument/2006/relationships/notesMaster" Target="/ppt/notesMasters/notesMaster1.xml" Id="R3e89f73e9fe84d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938b9e511d45a5" /><Relationship Type="http://schemas.openxmlformats.org/officeDocument/2006/relationships/notesMaster" Target="/ppt/notesMasters/notesMaster1.xml" Id="R278853bbcb6145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de la contribution de Meryem à l’espace employé du projet d’équipe. Les parcours client, employeur et l’authentification existants sont conservés.</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liste contient plusieurs missions locales réalistes. Les données de chaque mission restent synchronisées entre les écrans.</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première utilisation conserve la connexion existante et le rôle EMPLOYEE. Aucun formulaire public ne permet de créer un employé.</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démarrage enregistre une seule heure réelle. Une mission déjà en cours reprend son état et son compteur.</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tâches obligatoires apparaissent clairement. Les commentaires permettent de signaler une difficulté. Tout cocher ne termine jamais automatiquement la mission.</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Avant clôture, les tâches obligatoires doivent être réalisées ou bénéficier d’une exception autorisée et justifiée. La clôture enregistre la fin, puis ouvre la rédaction du rapport.</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résumé nécessite au moins 10 caractères. Un incident déclaré nécessite une description de 10 caractères. Un brouillon conservé en mémoire peut être repris après retour arrière. Aucun envoi serveur n’est simulé par un faux message.</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rapport validé passe la mission au statut Terminée et fige le contenu. Avant validation, la mission reste au statut Rapport à compléter avec possibilité de reprendre le brouillon.</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données du service de démonstration sont en mémoire et isolées par employé. Les gardes du store empêchent les modifications après validation. Les tests couvrent notamment transitions, checklist, rapport et isolation des comptes.</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Identifiants de démonstration publics du dépôt. Ne pas utiliser de véritables identifiants dans le simulateur. Les photos restent locales, aucune API ou transmission de rapport n’est connectée.</a:t>
            </a:r>
          </a:p>
          <a:p xmlns:a="http://schemas.openxmlformats.org/drawingml/2006/main">
            <a:r>
              <a:t>Source : code du projet MagiquePro et LIVRAISON_EMPLOYE.md, contribution de Meryem. Captures réalisées dans Expo Web au format téléphone 390 × 844. Elles ne constituent pas une validation Expo Go sur appareil. Dépôt : https://github.com/beelmaryama-netizen/projet_fin_detude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411c8c3e1e47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3bdaa761f04dca" /><Relationship Type="http://schemas.openxmlformats.org/officeDocument/2006/relationships/slideLayout" Target="/ppt/slideLayouts/slideLayout1.xml" Id="R4658d6aa8ee445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58d6aa8ee445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8d50c8951348ec" /><Relationship Type="http://schemas.openxmlformats.org/officeDocument/2006/relationships/image" Target="/ppt/media/image.png" Id="R99fb571068634bb3" /><Relationship Type="http://schemas.openxmlformats.org/officeDocument/2006/relationships/notesSlide" Target="/ppt/notesSlides/notesSlide1.xml" Id="R6d5f97f3a99f49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f8d2d665c44ff1" /><Relationship Type="http://schemas.openxmlformats.org/officeDocument/2006/relationships/image" Target="/ppt/media/image2.png" Id="R06f6b361aaf14049" /><Relationship Type="http://schemas.openxmlformats.org/officeDocument/2006/relationships/notesSlide" Target="/ppt/notesSlides/notesSlide2.xml" Id="Rf93759fe8a8343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a3321924124c2b" /><Relationship Type="http://schemas.openxmlformats.org/officeDocument/2006/relationships/image" Target="/ppt/media/image3.png" Id="R2c9eb289583141fc" /><Relationship Type="http://schemas.openxmlformats.org/officeDocument/2006/relationships/notesSlide" Target="/ppt/notesSlides/notesSlide3.xml" Id="R4059f006ed2a47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dd7b5250404efc" /><Relationship Type="http://schemas.openxmlformats.org/officeDocument/2006/relationships/image" Target="/ppt/media/image4.png" Id="Rb298211660844104" /><Relationship Type="http://schemas.openxmlformats.org/officeDocument/2006/relationships/notesSlide" Target="/ppt/notesSlides/notesSlide4.xml" Id="Ra5a49d0991344b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92fd98843d43d5" /><Relationship Type="http://schemas.openxmlformats.org/officeDocument/2006/relationships/image" Target="/ppt/media/image5.png" Id="R4a12e64f57e848c0" /><Relationship Type="http://schemas.openxmlformats.org/officeDocument/2006/relationships/notesSlide" Target="/ppt/notesSlides/notesSlide5.xml" Id="Red03cad77bc144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5b93db6e9a4fbd" /><Relationship Type="http://schemas.openxmlformats.org/officeDocument/2006/relationships/image" Target="/ppt/media/image6.png" Id="R2a1ef4e075494c90" /><Relationship Type="http://schemas.openxmlformats.org/officeDocument/2006/relationships/notesSlide" Target="/ppt/notesSlides/notesSlide6.xml" Id="R67081d304a494b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33d26ba1cc45cd" /><Relationship Type="http://schemas.openxmlformats.org/officeDocument/2006/relationships/image" Target="/ppt/media/image7.png" Id="Red6a3cb87f85448d" /><Relationship Type="http://schemas.openxmlformats.org/officeDocument/2006/relationships/notesSlide" Target="/ppt/notesSlides/notesSlide7.xml" Id="R1dad81a73fc844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51f5e43a9b4e14" /><Relationship Type="http://schemas.openxmlformats.org/officeDocument/2006/relationships/image" Target="/ppt/media/image8.png" Id="Rc5e462c33544449a" /><Relationship Type="http://schemas.openxmlformats.org/officeDocument/2006/relationships/notesSlide" Target="/ppt/notesSlides/notesSlide8.xml" Id="R4cf8885fb0394a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f25eb97fc34329" /><Relationship Type="http://schemas.openxmlformats.org/officeDocument/2006/relationships/notesSlide" Target="/ppt/notesSlides/notesSlide9.xml" Id="R998f463c322b43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4dac1e5f46496e" /><Relationship Type="http://schemas.openxmlformats.org/officeDocument/2006/relationships/notesSlide" Target="/ppt/notesSlides/notesSlide10.xml" Id="R5286b0af6c554342" /></Relationships>
</file>

<file path=ppt/slides/slide1.xml><?xml version="1.0" encoding="utf-8"?>
<p:sld xmlns:p="http://schemas.openxmlformats.org/presentationml/2006/main">
  <p:cSld>
    <p:bg>
      <p:bgPr>
        <a:solidFill xmlns:a="http://schemas.openxmlformats.org/drawingml/2006/main">
          <a:srgbClr val="0B3D7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fb571068634bb3"/>
          <a:stretch xmlns:a="http://schemas.openxmlformats.org/drawingml/2006/main"/>
        </p:blipFill>
        <p:spPr>
          <a:xfrm xmlns:a="http://schemas.openxmlformats.org/drawingml/2006/main">
            <a:off x="8193881" y="1885950"/>
            <a:ext cx="3186113" cy="2124075"/>
          </a:xfrm>
          <a:prstGeom xmlns:a="http://schemas.openxmlformats.org/drawingml/2006/main" prst="rect">
            <a:avLst/>
          </a:prstGeom>
        </p:spPr>
      </p:pic>
      <p:sp>
        <p:nvSpPr>
          <p:cNvPr id="2" name="text-1-72-165">
            <a:extLst xmlns:a="http://schemas.openxmlformats.org/drawingml/2006/main">
              <a:ext uri="{FF2B5EF4-FFF2-40B4-BE49-F238E27FC236}">
                <a16:creationId xmlns:a16="http://schemas.microsoft.com/office/drawing/2014/main" id="{73328364-CAC4-4358-B9AC-66E81DE85346}"/>
              </a:ext>
            </a:extLst>
          </p:cNvPr>
          <p:cNvSpPr>
            <a:spLocks xmlns:a="http://schemas.openxmlformats.org/drawingml/2006/main" noGrp="1"/>
          </p:cNvSpPr>
          <p:nvPr/>
        </p:nvSpPr>
        <p:spPr>
          <a:xfrm xmlns:a="http://schemas.openxmlformats.org/drawingml/2006/main">
            <a:off x="685800" y="1571625"/>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0">
                <a:solidFill>
                  <a:srgbClr val="FFFFFF"/>
                </a:solidFill>
                <a:latin typeface="Poppins"/>
                <a:ea typeface="Poppins"/>
                <a:cs typeface="Poppins"/>
              </a:defRPr>
            </a:pPr>
            <a:r>
              <a:rPr sz="5250" b="0">
                <a:solidFill>
                  <a:srgbClr val="FFFFFF"/>
                </a:solidFill>
                <a:latin typeface="Poppins"/>
                <a:ea typeface="Poppins"/>
                <a:cs typeface="Poppins"/>
              </a:rPr>
              <a:t>MagiquePro</a:t>
            </a:r>
          </a:p>
        </p:txBody>
      </p:sp>
      <p:sp>
        <p:nvSpPr>
          <p:cNvPr id="3" name="text-1-72-278">
            <a:extLst xmlns:a="http://schemas.openxmlformats.org/drawingml/2006/main">
              <a:ext uri="{FF2B5EF4-FFF2-40B4-BE49-F238E27FC236}">
                <a16:creationId xmlns:a16="http://schemas.microsoft.com/office/drawing/2014/main" id="{6294C9FF-893F-4A1E-92AA-47BD17DF1E0B}"/>
              </a:ext>
            </a:extLst>
          </p:cNvPr>
          <p:cNvSpPr>
            <a:spLocks xmlns:a="http://schemas.openxmlformats.org/drawingml/2006/main" noGrp="1"/>
          </p:cNvSpPr>
          <p:nvPr/>
        </p:nvSpPr>
        <p:spPr>
          <a:xfrm xmlns:a="http://schemas.openxmlformats.org/drawingml/2006/main">
            <a:off x="685800" y="264795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0">
                <a:solidFill>
                  <a:srgbClr val="FFFFFF"/>
                </a:solidFill>
                <a:latin typeface="Poppins"/>
                <a:ea typeface="Poppins"/>
                <a:cs typeface="Poppins"/>
              </a:defRPr>
            </a:pPr>
            <a:r>
              <a:rPr sz="4200" b="0">
                <a:solidFill>
                  <a:srgbClr val="FFFFFF"/>
                </a:solidFill>
                <a:latin typeface="Poppins"/>
                <a:ea typeface="Poppins"/>
                <a:cs typeface="Poppins"/>
              </a:rPr>
              <a:t>Espace employé</a:t>
            </a:r>
          </a:p>
        </p:txBody>
      </p:sp>
      <p:sp>
        <p:nvSpPr>
          <p:cNvPr id="4" name="text-1-76-421">
            <a:extLst xmlns:a="http://schemas.openxmlformats.org/drawingml/2006/main">
              <a:ext uri="{FF2B5EF4-FFF2-40B4-BE49-F238E27FC236}">
                <a16:creationId xmlns:a16="http://schemas.microsoft.com/office/drawing/2014/main" id="{7BF51A70-86A8-411A-B1B0-2A8AE78481FD}"/>
              </a:ext>
            </a:extLst>
          </p:cNvPr>
          <p:cNvSpPr>
            <a:spLocks xmlns:a="http://schemas.openxmlformats.org/drawingml/2006/main" noGrp="1"/>
          </p:cNvSpPr>
          <p:nvPr/>
        </p:nvSpPr>
        <p:spPr>
          <a:xfrm xmlns:a="http://schemas.openxmlformats.org/drawingml/2006/main">
            <a:off x="723900" y="40100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CCDFF6"/>
                </a:solidFill>
                <a:latin typeface="DM Sans"/>
                <a:ea typeface="DM Sans"/>
                <a:cs typeface="DM Sans"/>
              </a:defRPr>
            </a:pPr>
            <a:r>
              <a:rPr sz="2250" b="0">
                <a:solidFill>
                  <a:srgbClr val="CCDFF6"/>
                </a:solidFill>
                <a:latin typeface="DM Sans"/>
                <a:ea typeface="DM Sans"/>
                <a:cs typeface="DM Sans"/>
              </a:rPr>
              <a:t>Contribution de Meryem</a:t>
            </a:r>
          </a:p>
        </p:txBody>
      </p:sp>
      <p:sp>
        <p:nvSpPr>
          <p:cNvPr id="5" name="text-1-76-537">
            <a:extLst xmlns:a="http://schemas.openxmlformats.org/drawingml/2006/main">
              <a:ext uri="{FF2B5EF4-FFF2-40B4-BE49-F238E27FC236}">
                <a16:creationId xmlns:a16="http://schemas.microsoft.com/office/drawing/2014/main" id="{E367D45B-46E8-47B6-8F00-A3D0ED329D8D}"/>
              </a:ext>
            </a:extLst>
          </p:cNvPr>
          <p:cNvSpPr>
            <a:spLocks xmlns:a="http://schemas.openxmlformats.org/drawingml/2006/main" noGrp="1"/>
          </p:cNvSpPr>
          <p:nvPr/>
        </p:nvSpPr>
        <p:spPr>
          <a:xfrm xmlns:a="http://schemas.openxmlformats.org/drawingml/2006/main">
            <a:off x="723900" y="5114925"/>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CDFF6"/>
                </a:solidFill>
                <a:latin typeface="DM Sans"/>
                <a:ea typeface="DM Sans"/>
                <a:cs typeface="DM Sans"/>
              </a:defRPr>
            </a:pPr>
            <a:r>
              <a:rPr sz="1950" b="0">
                <a:solidFill>
                  <a:srgbClr val="CCDFF6"/>
                </a:solidFill>
                <a:latin typeface="DM Sans"/>
                <a:ea typeface="DM Sans"/>
                <a:cs typeface="DM Sans"/>
              </a:rPr>
              <a:t>Application mobile de gestion des services de ménage</a:t>
            </a:r>
          </a:p>
        </p:txBody>
      </p:sp>
    </p:spTree>
    <p:extLst>
      <p:ext uri="{BB962C8B-B14F-4D97-AF65-F5344CB8AC3E}">
        <p14:creationId xmlns:p14="http://schemas.microsoft.com/office/powerpoint/2010/main" val="212635180"/>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4" name="text-2-1180-675">
            <a:extLst xmlns:a="http://schemas.openxmlformats.org/drawingml/2006/main">
              <a:ext uri="{FF2B5EF4-FFF2-40B4-BE49-F238E27FC236}">
                <a16:creationId xmlns:a16="http://schemas.microsoft.com/office/drawing/2014/main" id="{6EEA13DD-FACE-4DE6-8407-5AA8A6087122}"/>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02</a:t>
            </a:r>
          </a:p>
        </p:txBody>
      </p:sp>
      <p:sp>
        <p:nvSpPr>
          <p:cNvPr id="2" name="text-2-72-60">
            <a:extLst xmlns:a="http://schemas.openxmlformats.org/drawingml/2006/main">
              <a:ext uri="{FF2B5EF4-FFF2-40B4-BE49-F238E27FC236}">
                <a16:creationId xmlns:a16="http://schemas.microsoft.com/office/drawing/2014/main" id="{E7444029-66EF-4786-AF72-55A1A7A1511F}"/>
              </a:ext>
            </a:extLst>
          </p:cNvPr>
          <p:cNvSpPr>
            <a:spLocks xmlns:a="http://schemas.openxmlformats.org/drawingml/2006/main" noGrp="1"/>
          </p:cNvSpPr>
          <p:nvPr/>
        </p:nvSpPr>
        <p:spPr>
          <a:xfrm xmlns:a="http://schemas.openxmlformats.org/drawingml/2006/main">
            <a:off x="685800" y="57150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Le parcours employé</a:t>
            </a:r>
          </a:p>
        </p:txBody>
      </p:sp>
      <p:sp>
        <p:nvSpPr>
          <p:cNvPr id="3" name="text-2-72-160">
            <a:extLst xmlns:a="http://schemas.openxmlformats.org/drawingml/2006/main">
              <a:ext uri="{FF2B5EF4-FFF2-40B4-BE49-F238E27FC236}">
                <a16:creationId xmlns:a16="http://schemas.microsoft.com/office/drawing/2014/main" id="{7EAF7519-B8B1-4E69-BC6C-BC28AA6812C6}"/>
              </a:ext>
            </a:extLst>
          </p:cNvPr>
          <p:cNvSpPr>
            <a:spLocks xmlns:a="http://schemas.openxmlformats.org/drawingml/2006/main" noGrp="1"/>
          </p:cNvSpPr>
          <p:nvPr/>
        </p:nvSpPr>
        <p:spPr>
          <a:xfrm xmlns:a="http://schemas.openxmlformats.org/drawingml/2006/main">
            <a:off x="685800" y="1524000"/>
            <a:ext cx="690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Un point d’entrée pour les missions attribuées.</a:t>
            </a:r>
          </a:p>
        </p:txBody>
      </p:sp>
      <p:sp>
        <p:nvSpPr>
          <p:cNvPr id="4" name="text-2-72-270">
            <a:extLst xmlns:a="http://schemas.openxmlformats.org/drawingml/2006/main">
              <a:ext uri="{FF2B5EF4-FFF2-40B4-BE49-F238E27FC236}">
                <a16:creationId xmlns:a16="http://schemas.microsoft.com/office/drawing/2014/main" id="{B9B90B90-25F0-4F41-BA04-013E592944CC}"/>
              </a:ext>
            </a:extLst>
          </p:cNvPr>
          <p:cNvSpPr>
            <a:spLocks xmlns:a="http://schemas.openxmlformats.org/drawingml/2006/main" noGrp="1"/>
          </p:cNvSpPr>
          <p:nvPr/>
        </p:nvSpPr>
        <p:spPr>
          <a:xfrm xmlns:a="http://schemas.openxmlformats.org/drawingml/2006/main">
            <a:off x="685800" y="2571750"/>
            <a:ext cx="690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65C0"/>
                </a:solidFill>
                <a:latin typeface="DM Sans"/>
                <a:ea typeface="DM Sans"/>
                <a:cs typeface="DM Sans"/>
              </a:defRPr>
            </a:pPr>
            <a:r>
              <a:rPr sz="1950" b="1">
                <a:solidFill>
                  <a:srgbClr val="1565C0"/>
                </a:solidFill>
                <a:latin typeface="DM Sans"/>
                <a:ea typeface="DM Sans"/>
                <a:cs typeface="DM Sans"/>
              </a:rPr>
              <a:t>01  À venir</a:t>
            </a:r>
          </a:p>
        </p:txBody>
      </p:sp>
      <p:sp>
        <p:nvSpPr>
          <p:cNvPr id="5" name="text-2-72-309">
            <a:extLst xmlns:a="http://schemas.openxmlformats.org/drawingml/2006/main">
              <a:ext uri="{FF2B5EF4-FFF2-40B4-BE49-F238E27FC236}">
                <a16:creationId xmlns:a16="http://schemas.microsoft.com/office/drawing/2014/main" id="{AB8B52F2-7424-493A-BA0D-7B6E5A47526F}"/>
              </a:ext>
            </a:extLst>
          </p:cNvPr>
          <p:cNvSpPr>
            <a:spLocks xmlns:a="http://schemas.openxmlformats.org/drawingml/2006/main" noGrp="1"/>
          </p:cNvSpPr>
          <p:nvPr/>
        </p:nvSpPr>
        <p:spPr>
          <a:xfrm xmlns:a="http://schemas.openxmlformats.org/drawingml/2006/main">
            <a:off x="685800" y="2943225"/>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D"/>
                </a:solidFill>
                <a:latin typeface="DM Sans"/>
                <a:ea typeface="DM Sans"/>
                <a:cs typeface="DM Sans"/>
              </a:defRPr>
            </a:pPr>
            <a:r>
              <a:rPr sz="1800" b="0">
                <a:solidFill>
                  <a:srgbClr val="52657D"/>
                </a:solidFill>
                <a:latin typeface="DM Sans"/>
                <a:ea typeface="DM Sans"/>
                <a:cs typeface="DM Sans"/>
              </a:rPr>
              <a:t>Consulter la prestation et ses consignes.</a:t>
            </a:r>
          </a:p>
        </p:txBody>
      </p:sp>
      <p:sp>
        <p:nvSpPr>
          <p:cNvPr id="6" name="text-2-72-362">
            <a:extLst xmlns:a="http://schemas.openxmlformats.org/drawingml/2006/main">
              <a:ext uri="{FF2B5EF4-FFF2-40B4-BE49-F238E27FC236}">
                <a16:creationId xmlns:a16="http://schemas.microsoft.com/office/drawing/2014/main" id="{693EED50-85E7-48DF-AD97-39838B70084F}"/>
              </a:ext>
            </a:extLst>
          </p:cNvPr>
          <p:cNvSpPr>
            <a:spLocks xmlns:a="http://schemas.openxmlformats.org/drawingml/2006/main" noGrp="1"/>
          </p:cNvSpPr>
          <p:nvPr/>
        </p:nvSpPr>
        <p:spPr>
          <a:xfrm xmlns:a="http://schemas.openxmlformats.org/drawingml/2006/main">
            <a:off x="685800" y="3448050"/>
            <a:ext cx="690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65C0"/>
                </a:solidFill>
                <a:latin typeface="DM Sans"/>
                <a:ea typeface="DM Sans"/>
                <a:cs typeface="DM Sans"/>
              </a:defRPr>
            </a:pPr>
            <a:r>
              <a:rPr sz="1950" b="1">
                <a:solidFill>
                  <a:srgbClr val="1565C0"/>
                </a:solidFill>
                <a:latin typeface="DM Sans"/>
                <a:ea typeface="DM Sans"/>
                <a:cs typeface="DM Sans"/>
              </a:rPr>
              <a:t>02  En cours</a:t>
            </a:r>
          </a:p>
        </p:txBody>
      </p:sp>
      <p:sp>
        <p:nvSpPr>
          <p:cNvPr id="7" name="text-2-72-401">
            <a:extLst xmlns:a="http://schemas.openxmlformats.org/drawingml/2006/main">
              <a:ext uri="{FF2B5EF4-FFF2-40B4-BE49-F238E27FC236}">
                <a16:creationId xmlns:a16="http://schemas.microsoft.com/office/drawing/2014/main" id="{AD06B351-F13B-4B46-85E3-B560B285CF8F}"/>
              </a:ext>
            </a:extLst>
          </p:cNvPr>
          <p:cNvSpPr>
            <a:spLocks xmlns:a="http://schemas.openxmlformats.org/drawingml/2006/main" noGrp="1"/>
          </p:cNvSpPr>
          <p:nvPr/>
        </p:nvSpPr>
        <p:spPr>
          <a:xfrm xmlns:a="http://schemas.openxmlformats.org/drawingml/2006/main">
            <a:off x="685800" y="3819525"/>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D"/>
                </a:solidFill>
                <a:latin typeface="DM Sans"/>
                <a:ea typeface="DM Sans"/>
                <a:cs typeface="DM Sans"/>
              </a:defRPr>
            </a:pPr>
            <a:r>
              <a:rPr sz="1800" b="0">
                <a:solidFill>
                  <a:srgbClr val="52657D"/>
                </a:solidFill>
                <a:latin typeface="DM Sans"/>
                <a:ea typeface="DM Sans"/>
                <a:cs typeface="DM Sans"/>
              </a:rPr>
              <a:t>Démarrer, suivre la checklist et noter les incidents.</a:t>
            </a:r>
          </a:p>
        </p:txBody>
      </p:sp>
      <p:sp>
        <p:nvSpPr>
          <p:cNvPr id="8" name="text-2-72-454">
            <a:extLst xmlns:a="http://schemas.openxmlformats.org/drawingml/2006/main">
              <a:ext uri="{FF2B5EF4-FFF2-40B4-BE49-F238E27FC236}">
                <a16:creationId xmlns:a16="http://schemas.microsoft.com/office/drawing/2014/main" id="{E284BD94-35F6-45DC-81BB-86DF3D151794}"/>
              </a:ext>
            </a:extLst>
          </p:cNvPr>
          <p:cNvSpPr>
            <a:spLocks xmlns:a="http://schemas.openxmlformats.org/drawingml/2006/main" noGrp="1"/>
          </p:cNvSpPr>
          <p:nvPr/>
        </p:nvSpPr>
        <p:spPr>
          <a:xfrm xmlns:a="http://schemas.openxmlformats.org/drawingml/2006/main">
            <a:off x="685800" y="4324350"/>
            <a:ext cx="690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65C0"/>
                </a:solidFill>
                <a:latin typeface="DM Sans"/>
                <a:ea typeface="DM Sans"/>
                <a:cs typeface="DM Sans"/>
              </a:defRPr>
            </a:pPr>
            <a:r>
              <a:rPr sz="1950" b="1">
                <a:solidFill>
                  <a:srgbClr val="1565C0"/>
                </a:solidFill>
                <a:latin typeface="DM Sans"/>
                <a:ea typeface="DM Sans"/>
                <a:cs typeface="DM Sans"/>
              </a:rPr>
              <a:t>03  Rapport à compléter</a:t>
            </a:r>
          </a:p>
        </p:txBody>
      </p:sp>
      <p:sp>
        <p:nvSpPr>
          <p:cNvPr id="9" name="text-2-72-493">
            <a:extLst xmlns:a="http://schemas.openxmlformats.org/drawingml/2006/main">
              <a:ext uri="{FF2B5EF4-FFF2-40B4-BE49-F238E27FC236}">
                <a16:creationId xmlns:a16="http://schemas.microsoft.com/office/drawing/2014/main" id="{E3EEAA64-B9D1-414D-ADF3-E63ADF8CB9F7}"/>
              </a:ext>
            </a:extLst>
          </p:cNvPr>
          <p:cNvSpPr>
            <a:spLocks xmlns:a="http://schemas.openxmlformats.org/drawingml/2006/main" noGrp="1"/>
          </p:cNvSpPr>
          <p:nvPr/>
        </p:nvSpPr>
        <p:spPr>
          <a:xfrm xmlns:a="http://schemas.openxmlformats.org/drawingml/2006/main">
            <a:off x="685800" y="4695825"/>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D"/>
                </a:solidFill>
                <a:latin typeface="DM Sans"/>
                <a:ea typeface="DM Sans"/>
                <a:cs typeface="DM Sans"/>
              </a:defRPr>
            </a:pPr>
            <a:r>
              <a:rPr sz="1800" b="0">
                <a:solidFill>
                  <a:srgbClr val="52657D"/>
                </a:solidFill>
                <a:latin typeface="DM Sans"/>
                <a:ea typeface="DM Sans"/>
                <a:cs typeface="DM Sans"/>
              </a:rPr>
              <a:t>Clôturer l’intervention et rédiger le bilan.</a:t>
            </a:r>
          </a:p>
        </p:txBody>
      </p:sp>
      <p:sp>
        <p:nvSpPr>
          <p:cNvPr id="10" name="text-2-72-546">
            <a:extLst xmlns:a="http://schemas.openxmlformats.org/drawingml/2006/main">
              <a:ext uri="{FF2B5EF4-FFF2-40B4-BE49-F238E27FC236}">
                <a16:creationId xmlns:a16="http://schemas.microsoft.com/office/drawing/2014/main" id="{805C46D4-2AC1-45DB-B416-E7DA259D3903}"/>
              </a:ext>
            </a:extLst>
          </p:cNvPr>
          <p:cNvSpPr>
            <a:spLocks xmlns:a="http://schemas.openxmlformats.org/drawingml/2006/main" noGrp="1"/>
          </p:cNvSpPr>
          <p:nvPr/>
        </p:nvSpPr>
        <p:spPr>
          <a:xfrm xmlns:a="http://schemas.openxmlformats.org/drawingml/2006/main">
            <a:off x="685800" y="5200650"/>
            <a:ext cx="6905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97B"/>
                </a:solidFill>
                <a:latin typeface="DM Sans"/>
                <a:ea typeface="DM Sans"/>
                <a:cs typeface="DM Sans"/>
              </a:defRPr>
            </a:pPr>
            <a:r>
              <a:rPr sz="1950" b="1">
                <a:solidFill>
                  <a:srgbClr val="00897B"/>
                </a:solidFill>
                <a:latin typeface="DM Sans"/>
                <a:ea typeface="DM Sans"/>
                <a:cs typeface="DM Sans"/>
              </a:rPr>
              <a:t>04  Terminée</a:t>
            </a:r>
          </a:p>
        </p:txBody>
      </p:sp>
      <p:sp>
        <p:nvSpPr>
          <p:cNvPr id="11" name="text-2-72-585">
            <a:extLst xmlns:a="http://schemas.openxmlformats.org/drawingml/2006/main">
              <a:ext uri="{FF2B5EF4-FFF2-40B4-BE49-F238E27FC236}">
                <a16:creationId xmlns:a16="http://schemas.microsoft.com/office/drawing/2014/main" id="{2587FF66-C12D-4D8F-8EBE-605D56246333}"/>
              </a:ext>
            </a:extLst>
          </p:cNvPr>
          <p:cNvSpPr>
            <a:spLocks xmlns:a="http://schemas.openxmlformats.org/drawingml/2006/main" noGrp="1"/>
          </p:cNvSpPr>
          <p:nvPr/>
        </p:nvSpPr>
        <p:spPr>
          <a:xfrm xmlns:a="http://schemas.openxmlformats.org/drawingml/2006/main">
            <a:off x="685800" y="5572125"/>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D"/>
                </a:solidFill>
                <a:latin typeface="DM Sans"/>
                <a:ea typeface="DM Sans"/>
                <a:cs typeface="DM Sans"/>
              </a:defRPr>
            </a:pPr>
            <a:r>
              <a:rPr sz="1800" b="0">
                <a:solidFill>
                  <a:srgbClr val="52657D"/>
                </a:solidFill>
                <a:latin typeface="DM Sans"/>
                <a:ea typeface="DM Sans"/>
                <a:cs typeface="DM Sans"/>
              </a:rPr>
              <a:t>Valider le rapport puis consulter le récapitulatif.</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6f6b361aaf14049"/>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13" name="text-2-880-674">
            <a:extLst xmlns:a="http://schemas.openxmlformats.org/drawingml/2006/main">
              <a:ext uri="{FF2B5EF4-FFF2-40B4-BE49-F238E27FC236}">
                <a16:creationId xmlns:a16="http://schemas.microsoft.com/office/drawing/2014/main" id="{74FE5DD7-2F8A-4934-928E-C4B1DDD21E3B}"/>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1892376845"/>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0" name="text-3-1180-675">
            <a:extLst xmlns:a="http://schemas.openxmlformats.org/drawingml/2006/main">
              <a:ext uri="{FF2B5EF4-FFF2-40B4-BE49-F238E27FC236}">
                <a16:creationId xmlns:a16="http://schemas.microsoft.com/office/drawing/2014/main" id="{BD82A979-6BB8-4AFE-9B1A-8A5CB4665600}"/>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03</a:t>
            </a:r>
          </a:p>
        </p:txBody>
      </p:sp>
      <p:sp>
        <p:nvSpPr>
          <p:cNvPr id="2" name="text-3-72-60">
            <a:extLst xmlns:a="http://schemas.openxmlformats.org/drawingml/2006/main">
              <a:ext uri="{FF2B5EF4-FFF2-40B4-BE49-F238E27FC236}">
                <a16:creationId xmlns:a16="http://schemas.microsoft.com/office/drawing/2014/main" id="{9EEA21A9-70C7-449A-946D-CE767CEE678A}"/>
              </a:ext>
            </a:extLst>
          </p:cNvPr>
          <p:cNvSpPr>
            <a:spLocks xmlns:a="http://schemas.openxmlformats.org/drawingml/2006/main" noGrp="1"/>
          </p:cNvSpPr>
          <p:nvPr/>
        </p:nvSpPr>
        <p:spPr>
          <a:xfrm xmlns:a="http://schemas.openxmlformats.org/drawingml/2006/main">
            <a:off x="685800" y="57150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Première connexion</a:t>
            </a:r>
          </a:p>
        </p:txBody>
      </p:sp>
      <p:sp>
        <p:nvSpPr>
          <p:cNvPr id="3" name="text-3-72-190">
            <a:extLst xmlns:a="http://schemas.openxmlformats.org/drawingml/2006/main">
              <a:ext uri="{FF2B5EF4-FFF2-40B4-BE49-F238E27FC236}">
                <a16:creationId xmlns:a16="http://schemas.microsoft.com/office/drawing/2014/main" id="{8668194F-1D39-4F17-957C-45AEE9B5ECA0}"/>
              </a:ext>
            </a:extLst>
          </p:cNvPr>
          <p:cNvSpPr>
            <a:spLocks xmlns:a="http://schemas.openxmlformats.org/drawingml/2006/main" noGrp="1"/>
          </p:cNvSpPr>
          <p:nvPr/>
        </p:nvSpPr>
        <p:spPr>
          <a:xfrm xmlns:a="http://schemas.openxmlformats.org/drawingml/2006/main">
            <a:off x="685800" y="180975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Un accueil personnel avant la première intervention.</a:t>
            </a:r>
          </a:p>
        </p:txBody>
      </p:sp>
      <p:sp>
        <p:nvSpPr>
          <p:cNvPr id="4" name="text-3-72-322">
            <a:extLst xmlns:a="http://schemas.openxmlformats.org/drawingml/2006/main">
              <a:ext uri="{FF2B5EF4-FFF2-40B4-BE49-F238E27FC236}">
                <a16:creationId xmlns:a16="http://schemas.microsoft.com/office/drawing/2014/main" id="{CE06637D-FDBA-4C69-9124-B544D5181FBD}"/>
              </a:ext>
            </a:extLst>
          </p:cNvPr>
          <p:cNvSpPr>
            <a:spLocks xmlns:a="http://schemas.openxmlformats.org/drawingml/2006/main" noGrp="1"/>
          </p:cNvSpPr>
          <p:nvPr/>
        </p:nvSpPr>
        <p:spPr>
          <a:xfrm xmlns:a="http://schemas.openxmlformats.org/drawingml/2006/main">
            <a:off x="685800" y="30670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 profil déjà renseigné</a:t>
            </a:r>
          </a:p>
        </p:txBody>
      </p:sp>
      <p:sp>
        <p:nvSpPr>
          <p:cNvPr id="5" name="text-3-72-374">
            <a:extLst xmlns:a="http://schemas.openxmlformats.org/drawingml/2006/main">
              <a:ext uri="{FF2B5EF4-FFF2-40B4-BE49-F238E27FC236}">
                <a16:creationId xmlns:a16="http://schemas.microsoft.com/office/drawing/2014/main" id="{9CB29361-005E-47A7-A5D0-02D78570EFAB}"/>
              </a:ext>
            </a:extLst>
          </p:cNvPr>
          <p:cNvSpPr>
            <a:spLocks xmlns:a="http://schemas.openxmlformats.org/drawingml/2006/main" noGrp="1"/>
          </p:cNvSpPr>
          <p:nvPr/>
        </p:nvSpPr>
        <p:spPr>
          <a:xfrm xmlns:a="http://schemas.openxmlformats.org/drawingml/2006/main">
            <a:off x="685800" y="35623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 compte fournit le prénom, le nom et le courriel. Le téléphone reste facultatif.</a:t>
            </a:r>
          </a:p>
        </p:txBody>
      </p:sp>
      <p:sp>
        <p:nvSpPr>
          <p:cNvPr id="6" name="text-3-72-478">
            <a:extLst xmlns:a="http://schemas.openxmlformats.org/drawingml/2006/main">
              <a:ext uri="{FF2B5EF4-FFF2-40B4-BE49-F238E27FC236}">
                <a16:creationId xmlns:a16="http://schemas.microsoft.com/office/drawing/2014/main" id="{F475AB44-45FE-4277-A8FC-1C99FE85738D}"/>
              </a:ext>
            </a:extLst>
          </p:cNvPr>
          <p:cNvSpPr>
            <a:spLocks xmlns:a="http://schemas.openxmlformats.org/drawingml/2006/main" noGrp="1"/>
          </p:cNvSpPr>
          <p:nvPr/>
        </p:nvSpPr>
        <p:spPr>
          <a:xfrm xmlns:a="http://schemas.openxmlformats.org/drawingml/2006/main">
            <a:off x="685800" y="45529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 parcours expliqué</a:t>
            </a:r>
          </a:p>
        </p:txBody>
      </p:sp>
      <p:sp>
        <p:nvSpPr>
          <p:cNvPr id="7" name="text-3-72-530">
            <a:extLst xmlns:a="http://schemas.openxmlformats.org/drawingml/2006/main">
              <a:ext uri="{FF2B5EF4-FFF2-40B4-BE49-F238E27FC236}">
                <a16:creationId xmlns:a16="http://schemas.microsoft.com/office/drawing/2014/main" id="{5A47D9FF-DE48-49C9-9F92-AAD19015E932}"/>
              </a:ext>
            </a:extLst>
          </p:cNvPr>
          <p:cNvSpPr>
            <a:spLocks xmlns:a="http://schemas.openxmlformats.org/drawingml/2006/main" noGrp="1"/>
          </p:cNvSpPr>
          <p:nvPr/>
        </p:nvSpPr>
        <p:spPr>
          <a:xfrm xmlns:a="http://schemas.openxmlformats.org/drawingml/2006/main">
            <a:off x="685800" y="5048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L’employé découvre les étapes puis accède à ses missions.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c9eb289583141fc"/>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9" name="text-3-880-674">
            <a:extLst xmlns:a="http://schemas.openxmlformats.org/drawingml/2006/main">
              <a:ext uri="{FF2B5EF4-FFF2-40B4-BE49-F238E27FC236}">
                <a16:creationId xmlns:a16="http://schemas.microsoft.com/office/drawing/2014/main" id="{62FBA7EB-0F76-4D34-BBA3-155FCA73E2C6}"/>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1556472128"/>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0" name="text-4-1180-675">
            <a:extLst xmlns:a="http://schemas.openxmlformats.org/drawingml/2006/main">
              <a:ext uri="{FF2B5EF4-FFF2-40B4-BE49-F238E27FC236}">
                <a16:creationId xmlns:a16="http://schemas.microsoft.com/office/drawing/2014/main" id="{8E7BC413-2DCF-4F8E-A5EF-1FD26800FD87}"/>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04</a:t>
            </a:r>
          </a:p>
        </p:txBody>
      </p:sp>
      <p:sp>
        <p:nvSpPr>
          <p:cNvPr id="2" name="text-4-72-60">
            <a:extLst xmlns:a="http://schemas.openxmlformats.org/drawingml/2006/main">
              <a:ext uri="{FF2B5EF4-FFF2-40B4-BE49-F238E27FC236}">
                <a16:creationId xmlns:a16="http://schemas.microsoft.com/office/drawing/2014/main" id="{70B1C9F3-DF7E-4691-AC4C-6EA69104EE34}"/>
              </a:ext>
            </a:extLst>
          </p:cNvPr>
          <p:cNvSpPr>
            <a:spLocks xmlns:a="http://schemas.openxmlformats.org/drawingml/2006/main" noGrp="1"/>
          </p:cNvSpPr>
          <p:nvPr/>
        </p:nvSpPr>
        <p:spPr>
          <a:xfrm xmlns:a="http://schemas.openxmlformats.org/drawingml/2006/main">
            <a:off x="685800" y="57150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Détail d’une mission</a:t>
            </a:r>
          </a:p>
        </p:txBody>
      </p:sp>
      <p:sp>
        <p:nvSpPr>
          <p:cNvPr id="3" name="text-4-72-190">
            <a:extLst xmlns:a="http://schemas.openxmlformats.org/drawingml/2006/main">
              <a:ext uri="{FF2B5EF4-FFF2-40B4-BE49-F238E27FC236}">
                <a16:creationId xmlns:a16="http://schemas.microsoft.com/office/drawing/2014/main" id="{59477ED7-51EB-4322-BFA9-90452555CBCA}"/>
              </a:ext>
            </a:extLst>
          </p:cNvPr>
          <p:cNvSpPr>
            <a:spLocks xmlns:a="http://schemas.openxmlformats.org/drawingml/2006/main" noGrp="1"/>
          </p:cNvSpPr>
          <p:nvPr/>
        </p:nvSpPr>
        <p:spPr>
          <a:xfrm xmlns:a="http://schemas.openxmlformats.org/drawingml/2006/main">
            <a:off x="685800" y="180975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Les informations utiles avant de démarrer.</a:t>
            </a:r>
          </a:p>
        </p:txBody>
      </p:sp>
      <p:sp>
        <p:nvSpPr>
          <p:cNvPr id="4" name="text-4-72-322">
            <a:extLst xmlns:a="http://schemas.openxmlformats.org/drawingml/2006/main">
              <a:ext uri="{FF2B5EF4-FFF2-40B4-BE49-F238E27FC236}">
                <a16:creationId xmlns:a16="http://schemas.microsoft.com/office/drawing/2014/main" id="{F96B908B-2DCC-4BCA-8F46-EF6CFC758CA7}"/>
              </a:ext>
            </a:extLst>
          </p:cNvPr>
          <p:cNvSpPr>
            <a:spLocks xmlns:a="http://schemas.openxmlformats.org/drawingml/2006/main" noGrp="1"/>
          </p:cNvSpPr>
          <p:nvPr/>
        </p:nvSpPr>
        <p:spPr>
          <a:xfrm xmlns:a="http://schemas.openxmlformats.org/drawingml/2006/main">
            <a:off x="685800" y="30670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La prestation en un endroit</a:t>
            </a:r>
          </a:p>
        </p:txBody>
      </p:sp>
      <p:sp>
        <p:nvSpPr>
          <p:cNvPr id="5" name="text-4-72-374">
            <a:extLst xmlns:a="http://schemas.openxmlformats.org/drawingml/2006/main">
              <a:ext uri="{FF2B5EF4-FFF2-40B4-BE49-F238E27FC236}">
                <a16:creationId xmlns:a16="http://schemas.microsoft.com/office/drawing/2014/main" id="{9DE722AD-75F2-49D1-94CF-CDA9C6BA5A13}"/>
              </a:ext>
            </a:extLst>
          </p:cNvPr>
          <p:cNvSpPr>
            <a:spLocks xmlns:a="http://schemas.openxmlformats.org/drawingml/2006/main" noGrp="1"/>
          </p:cNvSpPr>
          <p:nvPr/>
        </p:nvSpPr>
        <p:spPr>
          <a:xfrm xmlns:a="http://schemas.openxmlformats.org/drawingml/2006/main">
            <a:off x="685800" y="35623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Client, adresse, horaire, durée prévue et statut de la mission.</a:t>
            </a:r>
          </a:p>
        </p:txBody>
      </p:sp>
      <p:sp>
        <p:nvSpPr>
          <p:cNvPr id="6" name="text-4-72-478">
            <a:extLst xmlns:a="http://schemas.openxmlformats.org/drawingml/2006/main">
              <a:ext uri="{FF2B5EF4-FFF2-40B4-BE49-F238E27FC236}">
                <a16:creationId xmlns:a16="http://schemas.microsoft.com/office/drawing/2014/main" id="{4371446E-8ECD-4C3E-A893-29973B75CE32}"/>
              </a:ext>
            </a:extLst>
          </p:cNvPr>
          <p:cNvSpPr>
            <a:spLocks xmlns:a="http://schemas.openxmlformats.org/drawingml/2006/main" noGrp="1"/>
          </p:cNvSpPr>
          <p:nvPr/>
        </p:nvSpPr>
        <p:spPr>
          <a:xfrm xmlns:a="http://schemas.openxmlformats.org/drawingml/2006/main">
            <a:off x="685800" y="45529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Une préparation précise</a:t>
            </a:r>
          </a:p>
        </p:txBody>
      </p:sp>
      <p:sp>
        <p:nvSpPr>
          <p:cNvPr id="7" name="text-4-72-530">
            <a:extLst xmlns:a="http://schemas.openxmlformats.org/drawingml/2006/main">
              <a:ext uri="{FF2B5EF4-FFF2-40B4-BE49-F238E27FC236}">
                <a16:creationId xmlns:a16="http://schemas.microsoft.com/office/drawing/2014/main" id="{CD38B4AA-FC78-4055-9A9D-5B9C8879F515}"/>
              </a:ext>
            </a:extLst>
          </p:cNvPr>
          <p:cNvSpPr>
            <a:spLocks xmlns:a="http://schemas.openxmlformats.org/drawingml/2006/main" noGrp="1"/>
          </p:cNvSpPr>
          <p:nvPr/>
        </p:nvSpPr>
        <p:spPr>
          <a:xfrm xmlns:a="http://schemas.openxmlformats.org/drawingml/2006/main">
            <a:off x="685800" y="5048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Consignes, matériel nécessaire et tâches à réaliser. La mission peut être démarrée ou reprise.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298211660844104"/>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9" name="text-4-880-674">
            <a:extLst xmlns:a="http://schemas.openxmlformats.org/drawingml/2006/main">
              <a:ext uri="{FF2B5EF4-FFF2-40B4-BE49-F238E27FC236}">
                <a16:creationId xmlns:a16="http://schemas.microsoft.com/office/drawing/2014/main" id="{56ED74BC-B611-4DBC-BD3F-B3864DE4E59C}"/>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1191902677"/>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0" name="text-5-1180-675">
            <a:extLst xmlns:a="http://schemas.openxmlformats.org/drawingml/2006/main">
              <a:ext uri="{FF2B5EF4-FFF2-40B4-BE49-F238E27FC236}">
                <a16:creationId xmlns:a16="http://schemas.microsoft.com/office/drawing/2014/main" id="{76417CCD-07F2-4DD8-962D-ED9472E9919A}"/>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05</a:t>
            </a:r>
          </a:p>
        </p:txBody>
      </p:sp>
      <p:sp>
        <p:nvSpPr>
          <p:cNvPr id="2" name="text-5-72-60">
            <a:extLst xmlns:a="http://schemas.openxmlformats.org/drawingml/2006/main">
              <a:ext uri="{FF2B5EF4-FFF2-40B4-BE49-F238E27FC236}">
                <a16:creationId xmlns:a16="http://schemas.microsoft.com/office/drawing/2014/main" id="{6ED1FFCD-01B6-4E75-98A5-6F7DC41D2659}"/>
              </a:ext>
            </a:extLst>
          </p:cNvPr>
          <p:cNvSpPr>
            <a:spLocks xmlns:a="http://schemas.openxmlformats.org/drawingml/2006/main" noGrp="1"/>
          </p:cNvSpPr>
          <p:nvPr/>
        </p:nvSpPr>
        <p:spPr>
          <a:xfrm xmlns:a="http://schemas.openxmlformats.org/drawingml/2006/main">
            <a:off x="685800" y="57150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Checklist de mission</a:t>
            </a:r>
          </a:p>
        </p:txBody>
      </p:sp>
      <p:sp>
        <p:nvSpPr>
          <p:cNvPr id="3" name="text-5-72-190">
            <a:extLst xmlns:a="http://schemas.openxmlformats.org/drawingml/2006/main">
              <a:ext uri="{FF2B5EF4-FFF2-40B4-BE49-F238E27FC236}">
                <a16:creationId xmlns:a16="http://schemas.microsoft.com/office/drawing/2014/main" id="{9ABB2C58-1CA7-4298-881C-198FD578500D}"/>
              </a:ext>
            </a:extLst>
          </p:cNvPr>
          <p:cNvSpPr>
            <a:spLocks xmlns:a="http://schemas.openxmlformats.org/drawingml/2006/main" noGrp="1"/>
          </p:cNvSpPr>
          <p:nvPr/>
        </p:nvSpPr>
        <p:spPr>
          <a:xfrm xmlns:a="http://schemas.openxmlformats.org/drawingml/2006/main">
            <a:off x="685800" y="180975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Une progression calculée à partir des tâches.</a:t>
            </a:r>
          </a:p>
        </p:txBody>
      </p:sp>
      <p:sp>
        <p:nvSpPr>
          <p:cNvPr id="4" name="text-5-72-322">
            <a:extLst xmlns:a="http://schemas.openxmlformats.org/drawingml/2006/main">
              <a:ext uri="{FF2B5EF4-FFF2-40B4-BE49-F238E27FC236}">
                <a16:creationId xmlns:a16="http://schemas.microsoft.com/office/drawing/2014/main" id="{B4FB2935-FDB8-4E3A-8A87-A535D725D8BF}"/>
              </a:ext>
            </a:extLst>
          </p:cNvPr>
          <p:cNvSpPr>
            <a:spLocks xmlns:a="http://schemas.openxmlformats.org/drawingml/2006/main" noGrp="1"/>
          </p:cNvSpPr>
          <p:nvPr/>
        </p:nvSpPr>
        <p:spPr>
          <a:xfrm xmlns:a="http://schemas.openxmlformats.org/drawingml/2006/main">
            <a:off x="685800" y="30670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 suivi par zone</a:t>
            </a:r>
          </a:p>
        </p:txBody>
      </p:sp>
      <p:sp>
        <p:nvSpPr>
          <p:cNvPr id="5" name="text-5-72-374">
            <a:extLst xmlns:a="http://schemas.openxmlformats.org/drawingml/2006/main">
              <a:ext uri="{FF2B5EF4-FFF2-40B4-BE49-F238E27FC236}">
                <a16:creationId xmlns:a16="http://schemas.microsoft.com/office/drawing/2014/main" id="{02D68D0D-32A7-4FE2-9CC1-34EF574480C2}"/>
              </a:ext>
            </a:extLst>
          </p:cNvPr>
          <p:cNvSpPr>
            <a:spLocks xmlns:a="http://schemas.openxmlformats.org/drawingml/2006/main" noGrp="1"/>
          </p:cNvSpPr>
          <p:nvPr/>
        </p:nvSpPr>
        <p:spPr>
          <a:xfrm xmlns:a="http://schemas.openxmlformats.org/drawingml/2006/main">
            <a:off x="685800" y="35623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L’employé coche les tâches et retrouve ses choix après navigation.</a:t>
            </a:r>
          </a:p>
        </p:txBody>
      </p:sp>
      <p:sp>
        <p:nvSpPr>
          <p:cNvPr id="6" name="text-5-72-478">
            <a:extLst xmlns:a="http://schemas.openxmlformats.org/drawingml/2006/main">
              <a:ext uri="{FF2B5EF4-FFF2-40B4-BE49-F238E27FC236}">
                <a16:creationId xmlns:a16="http://schemas.microsoft.com/office/drawing/2014/main" id="{69724E14-8874-4A35-BEE4-BC8EC4BAFDA4}"/>
              </a:ext>
            </a:extLst>
          </p:cNvPr>
          <p:cNvSpPr>
            <a:spLocks xmlns:a="http://schemas.openxmlformats.org/drawingml/2006/main" noGrp="1"/>
          </p:cNvSpPr>
          <p:nvPr/>
        </p:nvSpPr>
        <p:spPr>
          <a:xfrm xmlns:a="http://schemas.openxmlformats.org/drawingml/2006/main">
            <a:off x="685800" y="45529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Des exceptions expliquées</a:t>
            </a:r>
          </a:p>
        </p:txBody>
      </p:sp>
      <p:sp>
        <p:nvSpPr>
          <p:cNvPr id="7" name="text-5-72-530">
            <a:extLst xmlns:a="http://schemas.openxmlformats.org/drawingml/2006/main">
              <a:ext uri="{FF2B5EF4-FFF2-40B4-BE49-F238E27FC236}">
                <a16:creationId xmlns:a16="http://schemas.microsoft.com/office/drawing/2014/main" id="{EE6C6D0B-D857-4179-B621-44EF8CF028E3}"/>
              </a:ext>
            </a:extLst>
          </p:cNvPr>
          <p:cNvSpPr>
            <a:spLocks xmlns:a="http://schemas.openxmlformats.org/drawingml/2006/main" noGrp="1"/>
          </p:cNvSpPr>
          <p:nvPr/>
        </p:nvSpPr>
        <p:spPr>
          <a:xfrm xmlns:a="http://schemas.openxmlformats.org/drawingml/2006/main">
            <a:off x="685800" y="5048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Une tâche non applicable exige une justification lorsqu’elle autorise cette option.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a12e64f57e848c0"/>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9" name="text-5-880-674">
            <a:extLst xmlns:a="http://schemas.openxmlformats.org/drawingml/2006/main">
              <a:ext uri="{FF2B5EF4-FFF2-40B4-BE49-F238E27FC236}">
                <a16:creationId xmlns:a16="http://schemas.microsoft.com/office/drawing/2014/main" id="{1BF5A844-4553-4FEF-BDD7-777CDF246008}"/>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873147743"/>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0" name="text-6-1180-675">
            <a:extLst xmlns:a="http://schemas.openxmlformats.org/drawingml/2006/main">
              <a:ext uri="{FF2B5EF4-FFF2-40B4-BE49-F238E27FC236}">
                <a16:creationId xmlns:a16="http://schemas.microsoft.com/office/drawing/2014/main" id="{45D90CA1-F26D-4947-9572-5330E765FF83}"/>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06</a:t>
            </a:r>
          </a:p>
        </p:txBody>
      </p:sp>
      <p:sp>
        <p:nvSpPr>
          <p:cNvPr id="2" name="text-6-72-60">
            <a:extLst xmlns:a="http://schemas.openxmlformats.org/drawingml/2006/main">
              <a:ext uri="{FF2B5EF4-FFF2-40B4-BE49-F238E27FC236}">
                <a16:creationId xmlns:a16="http://schemas.microsoft.com/office/drawing/2014/main" id="{47EAC228-2E00-48AB-9333-51029D21B066}"/>
              </a:ext>
            </a:extLst>
          </p:cNvPr>
          <p:cNvSpPr>
            <a:spLocks xmlns:a="http://schemas.openxmlformats.org/drawingml/2006/main" noGrp="1"/>
          </p:cNvSpPr>
          <p:nvPr/>
        </p:nvSpPr>
        <p:spPr>
          <a:xfrm xmlns:a="http://schemas.openxmlformats.org/drawingml/2006/main">
            <a:off x="685800" y="57150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Mission en cours</a:t>
            </a:r>
          </a:p>
        </p:txBody>
      </p:sp>
      <p:sp>
        <p:nvSpPr>
          <p:cNvPr id="3" name="text-6-72-190">
            <a:extLst xmlns:a="http://schemas.openxmlformats.org/drawingml/2006/main">
              <a:ext uri="{FF2B5EF4-FFF2-40B4-BE49-F238E27FC236}">
                <a16:creationId xmlns:a16="http://schemas.microsoft.com/office/drawing/2014/main" id="{A0768A24-4EAF-46E1-9233-8FDCBE7E3E7A}"/>
              </a:ext>
            </a:extLst>
          </p:cNvPr>
          <p:cNvSpPr>
            <a:spLocks xmlns:a="http://schemas.openxmlformats.org/drawingml/2006/main" noGrp="1"/>
          </p:cNvSpPr>
          <p:nvPr/>
        </p:nvSpPr>
        <p:spPr>
          <a:xfrm xmlns:a="http://schemas.openxmlformats.org/drawingml/2006/main">
            <a:off x="685800" y="180975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Le suivi de l’intervention en temps réel.</a:t>
            </a:r>
          </a:p>
        </p:txBody>
      </p:sp>
      <p:sp>
        <p:nvSpPr>
          <p:cNvPr id="4" name="text-6-72-322">
            <a:extLst xmlns:a="http://schemas.openxmlformats.org/drawingml/2006/main">
              <a:ext uri="{FF2B5EF4-FFF2-40B4-BE49-F238E27FC236}">
                <a16:creationId xmlns:a16="http://schemas.microsoft.com/office/drawing/2014/main" id="{6B8B3487-1E67-4C4F-AD54-9801A6DB8E7D}"/>
              </a:ext>
            </a:extLst>
          </p:cNvPr>
          <p:cNvSpPr>
            <a:spLocks xmlns:a="http://schemas.openxmlformats.org/drawingml/2006/main" noGrp="1"/>
          </p:cNvSpPr>
          <p:nvPr/>
        </p:nvSpPr>
        <p:spPr>
          <a:xfrm xmlns:a="http://schemas.openxmlformats.org/drawingml/2006/main">
            <a:off x="685800" y="30670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Une durée stable</a:t>
            </a:r>
          </a:p>
        </p:txBody>
      </p:sp>
      <p:sp>
        <p:nvSpPr>
          <p:cNvPr id="5" name="text-6-72-374">
            <a:extLst xmlns:a="http://schemas.openxmlformats.org/drawingml/2006/main">
              <a:ext uri="{FF2B5EF4-FFF2-40B4-BE49-F238E27FC236}">
                <a16:creationId xmlns:a16="http://schemas.microsoft.com/office/drawing/2014/main" id="{78EDFE85-2022-495B-A60E-A59B9668FE7A}"/>
              </a:ext>
            </a:extLst>
          </p:cNvPr>
          <p:cNvSpPr>
            <a:spLocks xmlns:a="http://schemas.openxmlformats.org/drawingml/2006/main" noGrp="1"/>
          </p:cNvSpPr>
          <p:nvPr/>
        </p:nvSpPr>
        <p:spPr>
          <a:xfrm xmlns:a="http://schemas.openxmlformats.org/drawingml/2006/main">
            <a:off x="685800" y="35623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 compteur part de l’heure réelle de début et continue lors des retours entre écrans.</a:t>
            </a:r>
          </a:p>
        </p:txBody>
      </p:sp>
      <p:sp>
        <p:nvSpPr>
          <p:cNvPr id="6" name="text-6-72-478">
            <a:extLst xmlns:a="http://schemas.openxmlformats.org/drawingml/2006/main">
              <a:ext uri="{FF2B5EF4-FFF2-40B4-BE49-F238E27FC236}">
                <a16:creationId xmlns:a16="http://schemas.microsoft.com/office/drawing/2014/main" id="{ABA5C6ED-130B-4939-B3AD-20A1F213BB7E}"/>
              </a:ext>
            </a:extLst>
          </p:cNvPr>
          <p:cNvSpPr>
            <a:spLocks xmlns:a="http://schemas.openxmlformats.org/drawingml/2006/main" noGrp="1"/>
          </p:cNvSpPr>
          <p:nvPr/>
        </p:nvSpPr>
        <p:spPr>
          <a:xfrm xmlns:a="http://schemas.openxmlformats.org/drawingml/2006/main">
            <a:off x="685800" y="45529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Une clôture contrôlée</a:t>
            </a:r>
          </a:p>
        </p:txBody>
      </p:sp>
      <p:sp>
        <p:nvSpPr>
          <p:cNvPr id="7" name="text-6-72-530">
            <a:extLst xmlns:a="http://schemas.openxmlformats.org/drawingml/2006/main">
              <a:ext uri="{FF2B5EF4-FFF2-40B4-BE49-F238E27FC236}">
                <a16:creationId xmlns:a16="http://schemas.microsoft.com/office/drawing/2014/main" id="{61105737-3B4D-4DEE-9345-A7C66F3694DC}"/>
              </a:ext>
            </a:extLst>
          </p:cNvPr>
          <p:cNvSpPr>
            <a:spLocks xmlns:a="http://schemas.openxmlformats.org/drawingml/2006/main" noGrp="1"/>
          </p:cNvSpPr>
          <p:nvPr/>
        </p:nvSpPr>
        <p:spPr>
          <a:xfrm xmlns:a="http://schemas.openxmlformats.org/drawingml/2006/main">
            <a:off x="685800" y="5048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L’employé suit les tâches restantes, note un incident et termine l’intervention après vérification.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a1ef4e075494c90"/>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9" name="text-6-880-674">
            <a:extLst xmlns:a="http://schemas.openxmlformats.org/drawingml/2006/main">
              <a:ext uri="{FF2B5EF4-FFF2-40B4-BE49-F238E27FC236}">
                <a16:creationId xmlns:a16="http://schemas.microsoft.com/office/drawing/2014/main" id="{5129C5BF-4B46-4F01-B5B6-F9214DA02962}"/>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1912093189"/>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0" name="text-7-1180-675">
            <a:extLst xmlns:a="http://schemas.openxmlformats.org/drawingml/2006/main">
              <a:ext uri="{FF2B5EF4-FFF2-40B4-BE49-F238E27FC236}">
                <a16:creationId xmlns:a16="http://schemas.microsoft.com/office/drawing/2014/main" id="{2DFD632C-4061-4416-A922-9610CAD3F849}"/>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07</a:t>
            </a:r>
          </a:p>
        </p:txBody>
      </p:sp>
      <p:sp>
        <p:nvSpPr>
          <p:cNvPr id="2" name="text-7-72-60">
            <a:extLst xmlns:a="http://schemas.openxmlformats.org/drawingml/2006/main">
              <a:ext uri="{FF2B5EF4-FFF2-40B4-BE49-F238E27FC236}">
                <a16:creationId xmlns:a16="http://schemas.microsoft.com/office/drawing/2014/main" id="{C3A24527-0678-439D-B8BC-C872DB65003A}"/>
              </a:ext>
            </a:extLst>
          </p:cNvPr>
          <p:cNvSpPr>
            <a:spLocks xmlns:a="http://schemas.openxmlformats.org/drawingml/2006/main" noGrp="1"/>
          </p:cNvSpPr>
          <p:nvPr/>
        </p:nvSpPr>
        <p:spPr>
          <a:xfrm xmlns:a="http://schemas.openxmlformats.org/drawingml/2006/main">
            <a:off x="685800" y="57150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Rapport de fin</a:t>
            </a:r>
          </a:p>
        </p:txBody>
      </p:sp>
      <p:sp>
        <p:nvSpPr>
          <p:cNvPr id="3" name="text-7-72-190">
            <a:extLst xmlns:a="http://schemas.openxmlformats.org/drawingml/2006/main">
              <a:ext uri="{FF2B5EF4-FFF2-40B4-BE49-F238E27FC236}">
                <a16:creationId xmlns:a16="http://schemas.microsoft.com/office/drawing/2014/main" id="{F8E338ED-2E63-4575-8DDD-ED3CC4B586CE}"/>
              </a:ext>
            </a:extLst>
          </p:cNvPr>
          <p:cNvSpPr>
            <a:spLocks xmlns:a="http://schemas.openxmlformats.org/drawingml/2006/main" noGrp="1"/>
          </p:cNvSpPr>
          <p:nvPr/>
        </p:nvSpPr>
        <p:spPr>
          <a:xfrm xmlns:a="http://schemas.openxmlformats.org/drawingml/2006/main">
            <a:off x="685800" y="180975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Un bilan conservé pendant la rédaction.</a:t>
            </a:r>
          </a:p>
        </p:txBody>
      </p:sp>
      <p:sp>
        <p:nvSpPr>
          <p:cNvPr id="4" name="text-7-72-322">
            <a:extLst xmlns:a="http://schemas.openxmlformats.org/drawingml/2006/main">
              <a:ext uri="{FF2B5EF4-FFF2-40B4-BE49-F238E27FC236}">
                <a16:creationId xmlns:a16="http://schemas.microsoft.com/office/drawing/2014/main" id="{F89F5E6A-835C-43D9-B8A9-18E03703C92E}"/>
              </a:ext>
            </a:extLst>
          </p:cNvPr>
          <p:cNvSpPr>
            <a:spLocks xmlns:a="http://schemas.openxmlformats.org/drawingml/2006/main" noGrp="1"/>
          </p:cNvSpPr>
          <p:nvPr/>
        </p:nvSpPr>
        <p:spPr>
          <a:xfrm xmlns:a="http://schemas.openxmlformats.org/drawingml/2006/main">
            <a:off x="685800" y="30670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Des informations préremplies</a:t>
            </a:r>
          </a:p>
        </p:txBody>
      </p:sp>
      <p:sp>
        <p:nvSpPr>
          <p:cNvPr id="5" name="text-7-72-374">
            <a:extLst xmlns:a="http://schemas.openxmlformats.org/drawingml/2006/main">
              <a:ext uri="{FF2B5EF4-FFF2-40B4-BE49-F238E27FC236}">
                <a16:creationId xmlns:a16="http://schemas.microsoft.com/office/drawing/2014/main" id="{B60C6495-857F-48B6-A0BB-3AC51C474F5E}"/>
              </a:ext>
            </a:extLst>
          </p:cNvPr>
          <p:cNvSpPr>
            <a:spLocks xmlns:a="http://schemas.openxmlformats.org/drawingml/2006/main" noGrp="1"/>
          </p:cNvSpPr>
          <p:nvPr/>
        </p:nvSpPr>
        <p:spPr>
          <a:xfrm xmlns:a="http://schemas.openxmlformats.org/drawingml/2006/main">
            <a:off x="685800" y="35623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Mission, horaires réels et checklist accompagnent le résumé et les observations.</a:t>
            </a:r>
          </a:p>
        </p:txBody>
      </p:sp>
      <p:sp>
        <p:nvSpPr>
          <p:cNvPr id="6" name="text-7-72-478">
            <a:extLst xmlns:a="http://schemas.openxmlformats.org/drawingml/2006/main">
              <a:ext uri="{FF2B5EF4-FFF2-40B4-BE49-F238E27FC236}">
                <a16:creationId xmlns:a16="http://schemas.microsoft.com/office/drawing/2014/main" id="{5388A171-0A3B-44ED-9DC6-5BA171549CA5}"/>
              </a:ext>
            </a:extLst>
          </p:cNvPr>
          <p:cNvSpPr>
            <a:spLocks xmlns:a="http://schemas.openxmlformats.org/drawingml/2006/main" noGrp="1"/>
          </p:cNvSpPr>
          <p:nvPr/>
        </p:nvSpPr>
        <p:spPr>
          <a:xfrm xmlns:a="http://schemas.openxmlformats.org/drawingml/2006/main">
            <a:off x="685800" y="45529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Brouillon ou validation</a:t>
            </a:r>
          </a:p>
        </p:txBody>
      </p:sp>
      <p:sp>
        <p:nvSpPr>
          <p:cNvPr id="7" name="text-7-72-530">
            <a:extLst xmlns:a="http://schemas.openxmlformats.org/drawingml/2006/main">
              <a:ext uri="{FF2B5EF4-FFF2-40B4-BE49-F238E27FC236}">
                <a16:creationId xmlns:a16="http://schemas.microsoft.com/office/drawing/2014/main" id="{9C123AF7-CFFC-4F1E-A341-40E1F2C7A393}"/>
              </a:ext>
            </a:extLst>
          </p:cNvPr>
          <p:cNvSpPr>
            <a:spLocks xmlns:a="http://schemas.openxmlformats.org/drawingml/2006/main" noGrp="1"/>
          </p:cNvSpPr>
          <p:nvPr/>
        </p:nvSpPr>
        <p:spPr>
          <a:xfrm xmlns:a="http://schemas.openxmlformats.org/drawingml/2006/main">
            <a:off x="685800" y="5048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 rapport accepte un incident et des photos locales facultatives. Les erreurs apparaissent près des champs.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d6a3cb87f85448d"/>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9" name="text-7-880-674">
            <a:extLst xmlns:a="http://schemas.openxmlformats.org/drawingml/2006/main">
              <a:ext uri="{FF2B5EF4-FFF2-40B4-BE49-F238E27FC236}">
                <a16:creationId xmlns:a16="http://schemas.microsoft.com/office/drawing/2014/main" id="{8B460572-0FB1-4A88-ADCE-07364AF0FB8C}"/>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1443344935"/>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0" name="text-8-1180-675">
            <a:extLst xmlns:a="http://schemas.openxmlformats.org/drawingml/2006/main">
              <a:ext uri="{FF2B5EF4-FFF2-40B4-BE49-F238E27FC236}">
                <a16:creationId xmlns:a16="http://schemas.microsoft.com/office/drawing/2014/main" id="{DB4AF49C-93ED-4AFE-8A41-55AC261E4A0E}"/>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08</a:t>
            </a:r>
          </a:p>
        </p:txBody>
      </p:sp>
      <p:sp>
        <p:nvSpPr>
          <p:cNvPr id="2" name="text-8-72-60">
            <a:extLst xmlns:a="http://schemas.openxmlformats.org/drawingml/2006/main">
              <a:ext uri="{FF2B5EF4-FFF2-40B4-BE49-F238E27FC236}">
                <a16:creationId xmlns:a16="http://schemas.microsoft.com/office/drawing/2014/main" id="{F4F7F27D-7B83-47B8-BFF2-BC4E673B565A}"/>
              </a:ext>
            </a:extLst>
          </p:cNvPr>
          <p:cNvSpPr>
            <a:spLocks xmlns:a="http://schemas.openxmlformats.org/drawingml/2006/main" noGrp="1"/>
          </p:cNvSpPr>
          <p:nvPr/>
        </p:nvSpPr>
        <p:spPr>
          <a:xfrm xmlns:a="http://schemas.openxmlformats.org/drawingml/2006/main">
            <a:off x="685800" y="57150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A1A2E"/>
                </a:solidFill>
                <a:latin typeface="Poppins"/>
                <a:ea typeface="Poppins"/>
                <a:cs typeface="Poppins"/>
              </a:defRPr>
            </a:pPr>
            <a:r>
              <a:rPr sz="3300" b="0">
                <a:solidFill>
                  <a:srgbClr val="1A1A2E"/>
                </a:solidFill>
                <a:latin typeface="Poppins"/>
                <a:ea typeface="Poppins"/>
                <a:cs typeface="Poppins"/>
              </a:rPr>
              <a:t>Mission terminée</a:t>
            </a:r>
          </a:p>
        </p:txBody>
      </p:sp>
      <p:sp>
        <p:nvSpPr>
          <p:cNvPr id="3" name="text-8-72-190">
            <a:extLst xmlns:a="http://schemas.openxmlformats.org/drawingml/2006/main">
              <a:ext uri="{FF2B5EF4-FFF2-40B4-BE49-F238E27FC236}">
                <a16:creationId xmlns:a16="http://schemas.microsoft.com/office/drawing/2014/main" id="{B3C4B0A7-847A-47DA-9FDC-D47C237012EB}"/>
              </a:ext>
            </a:extLst>
          </p:cNvPr>
          <p:cNvSpPr>
            <a:spLocks xmlns:a="http://schemas.openxmlformats.org/drawingml/2006/main" noGrp="1"/>
          </p:cNvSpPr>
          <p:nvPr/>
        </p:nvSpPr>
        <p:spPr>
          <a:xfrm xmlns:a="http://schemas.openxmlformats.org/drawingml/2006/main">
            <a:off x="685800" y="180975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57D"/>
                </a:solidFill>
                <a:latin typeface="DM Sans"/>
                <a:ea typeface="DM Sans"/>
                <a:cs typeface="DM Sans"/>
              </a:defRPr>
            </a:pPr>
            <a:r>
              <a:rPr sz="2100" b="0">
                <a:solidFill>
                  <a:srgbClr val="52657D"/>
                </a:solidFill>
                <a:latin typeface="DM Sans"/>
                <a:ea typeface="DM Sans"/>
                <a:cs typeface="DM Sans"/>
              </a:rPr>
              <a:t>Un récapitulatif après validation du rapport.</a:t>
            </a:r>
          </a:p>
        </p:txBody>
      </p:sp>
      <p:sp>
        <p:nvSpPr>
          <p:cNvPr id="4" name="text-8-72-322">
            <a:extLst xmlns:a="http://schemas.openxmlformats.org/drawingml/2006/main">
              <a:ext uri="{FF2B5EF4-FFF2-40B4-BE49-F238E27FC236}">
                <a16:creationId xmlns:a16="http://schemas.microsoft.com/office/drawing/2014/main" id="{8D39F417-DB29-45A1-B041-A72D9699298A}"/>
              </a:ext>
            </a:extLst>
          </p:cNvPr>
          <p:cNvSpPr>
            <a:spLocks xmlns:a="http://schemas.openxmlformats.org/drawingml/2006/main" noGrp="1"/>
          </p:cNvSpPr>
          <p:nvPr/>
        </p:nvSpPr>
        <p:spPr>
          <a:xfrm xmlns:a="http://schemas.openxmlformats.org/drawingml/2006/main">
            <a:off x="685800" y="30670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Le bilan de l’intervention</a:t>
            </a:r>
          </a:p>
        </p:txBody>
      </p:sp>
      <p:sp>
        <p:nvSpPr>
          <p:cNvPr id="5" name="text-8-72-374">
            <a:extLst xmlns:a="http://schemas.openxmlformats.org/drawingml/2006/main">
              <a:ext uri="{FF2B5EF4-FFF2-40B4-BE49-F238E27FC236}">
                <a16:creationId xmlns:a16="http://schemas.microsoft.com/office/drawing/2014/main" id="{D123C7F7-0FF2-4BF7-8313-543942970EFC}"/>
              </a:ext>
            </a:extLst>
          </p:cNvPr>
          <p:cNvSpPr>
            <a:spLocks xmlns:a="http://schemas.openxmlformats.org/drawingml/2006/main" noGrp="1"/>
          </p:cNvSpPr>
          <p:nvPr/>
        </p:nvSpPr>
        <p:spPr>
          <a:xfrm xmlns:a="http://schemas.openxmlformats.org/drawingml/2006/main">
            <a:off x="685800" y="35623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Référence, horaires réels, durée, tâches réalisées et remarques restent consultables.</a:t>
            </a:r>
          </a:p>
        </p:txBody>
      </p:sp>
      <p:sp>
        <p:nvSpPr>
          <p:cNvPr id="6" name="text-8-72-478">
            <a:extLst xmlns:a="http://schemas.openxmlformats.org/drawingml/2006/main">
              <a:ext uri="{FF2B5EF4-FFF2-40B4-BE49-F238E27FC236}">
                <a16:creationId xmlns:a16="http://schemas.microsoft.com/office/drawing/2014/main" id="{6F7FAE08-959A-422D-9CD3-FC08828AD36E}"/>
              </a:ext>
            </a:extLst>
          </p:cNvPr>
          <p:cNvSpPr>
            <a:spLocks xmlns:a="http://schemas.openxmlformats.org/drawingml/2006/main" noGrp="1"/>
          </p:cNvSpPr>
          <p:nvPr/>
        </p:nvSpPr>
        <p:spPr>
          <a:xfrm xmlns:a="http://schemas.openxmlformats.org/drawingml/2006/main">
            <a:off x="685800" y="45529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65C0"/>
                </a:solidFill>
                <a:latin typeface="DM Sans"/>
                <a:ea typeface="DM Sans"/>
                <a:cs typeface="DM Sans"/>
              </a:defRPr>
            </a:pPr>
            <a:r>
              <a:rPr sz="2100" b="1">
                <a:solidFill>
                  <a:srgbClr val="1565C0"/>
                </a:solidFill>
                <a:latin typeface="DM Sans"/>
                <a:ea typeface="DM Sans"/>
                <a:cs typeface="DM Sans"/>
              </a:rPr>
              <a:t>Un rapport accessible</a:t>
            </a:r>
          </a:p>
        </p:txBody>
      </p:sp>
      <p:sp>
        <p:nvSpPr>
          <p:cNvPr id="7" name="text-8-72-530">
            <a:extLst xmlns:a="http://schemas.openxmlformats.org/drawingml/2006/main">
              <a:ext uri="{FF2B5EF4-FFF2-40B4-BE49-F238E27FC236}">
                <a16:creationId xmlns:a16="http://schemas.microsoft.com/office/drawing/2014/main" id="{AEF12846-2C58-4ADE-B752-A1E06CBC242A}"/>
              </a:ext>
            </a:extLst>
          </p:cNvPr>
          <p:cNvSpPr>
            <a:spLocks xmlns:a="http://schemas.openxmlformats.org/drawingml/2006/main" noGrp="1"/>
          </p:cNvSpPr>
          <p:nvPr/>
        </p:nvSpPr>
        <p:spPr>
          <a:xfrm xmlns:a="http://schemas.openxmlformats.org/drawingml/2006/main">
            <a:off x="685800" y="5048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L’employé consulte le rapport validé ou revient à sa liste de missions.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5e462c33544449a"/>
          <a:stretch xmlns:a="http://schemas.openxmlformats.org/drawingml/2006/main"/>
        </p:blipFill>
        <p:spPr>
          <a:xfrm xmlns:a="http://schemas.openxmlformats.org/drawingml/2006/main">
            <a:off x="8591550" y="239371"/>
            <a:ext cx="2828925" cy="6122084"/>
          </a:xfrm>
          <a:prstGeom xmlns:a="http://schemas.openxmlformats.org/drawingml/2006/main" prst="rect">
            <a:avLst/>
          </a:prstGeom>
        </p:spPr>
      </p:pic>
      <p:sp>
        <p:nvSpPr>
          <p:cNvPr id="9" name="text-8-880-674">
            <a:extLst xmlns:a="http://schemas.openxmlformats.org/drawingml/2006/main">
              <a:ext uri="{FF2B5EF4-FFF2-40B4-BE49-F238E27FC236}">
                <a16:creationId xmlns:a16="http://schemas.microsoft.com/office/drawing/2014/main" id="{3A795C46-CE34-4DC0-9ADF-CC7948B27591}"/>
              </a:ext>
            </a:extLst>
          </p:cNvPr>
          <p:cNvSpPr>
            <a:spLocks xmlns:a="http://schemas.openxmlformats.org/drawingml/2006/main" noGrp="1"/>
          </p:cNvSpPr>
          <p:nvPr/>
        </p:nvSpPr>
        <p:spPr>
          <a:xfrm xmlns:a="http://schemas.openxmlformats.org/drawingml/2006/main">
            <a:off x="8382000" y="641985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a:solidFill>
                  <a:srgbClr val="52657D"/>
                </a:solidFill>
                <a:latin typeface="DM Sans"/>
                <a:ea typeface="DM Sans"/>
                <a:cs typeface="DM Sans"/>
              </a:defRPr>
            </a:pPr>
            <a:r>
              <a:rPr sz="1050" b="0">
                <a:solidFill>
                  <a:srgbClr val="52657D"/>
                </a:solidFill>
                <a:latin typeface="DM Sans"/>
                <a:ea typeface="DM Sans"/>
                <a:cs typeface="DM Sans"/>
              </a:rPr>
              <a:t>Aperçu Expo Web au format téléphone</a:t>
            </a:r>
          </a:p>
        </p:txBody>
      </p:sp>
    </p:spTree>
    <p:extLst>
      <p:ext uri="{BB962C8B-B14F-4D97-AF65-F5344CB8AC3E}">
        <p14:creationId xmlns:p14="http://schemas.microsoft.com/office/powerpoint/2010/main" val="663210752"/>
      </p:ext>
    </p:extLst>
  </p:cSld>
</p:sld>
</file>

<file path=ppt/slides/slide9.xml><?xml version="1.0" encoding="utf-8"?>
<p:sld xmlns:p="http://schemas.openxmlformats.org/presentationml/2006/main">
  <p:cSld>
    <p:bg>
      <p:bgPr>
        <a:solidFill xmlns:a="http://schemas.openxmlformats.org/drawingml/2006/main">
          <a:srgbClr val="0B3D78"/>
        </a:solidFill>
      </p:bgPr>
    </p:bg>
    <p:spTree>
      <p:nvGrpSpPr>
        <p:cNvPr id="1" name=""/>
        <p:cNvGrpSpPr/>
        <p:nvPr/>
      </p:nvGrpSpPr>
      <p:grpSpPr>
        <a:xfrm xmlns:a="http://schemas.openxmlformats.org/drawingml/2006/main"/>
      </p:grpSpPr>
      <p:sp>
        <p:nvSpPr>
          <p:cNvPr id="12" name="text-9-1180-675">
            <a:extLst xmlns:a="http://schemas.openxmlformats.org/drawingml/2006/main">
              <a:ext uri="{FF2B5EF4-FFF2-40B4-BE49-F238E27FC236}">
                <a16:creationId xmlns:a16="http://schemas.microsoft.com/office/drawing/2014/main" id="{2FFF0E4D-932B-488D-978C-CE70D5633556}"/>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EAF3FF"/>
                </a:solidFill>
                <a:latin typeface="DM Sans"/>
                <a:ea typeface="DM Sans"/>
                <a:cs typeface="DM Sans"/>
              </a:defRPr>
            </a:pPr>
            <a:r>
              <a:rPr sz="1200" b="0">
                <a:solidFill>
                  <a:srgbClr val="EAF3FF"/>
                </a:solidFill>
                <a:latin typeface="DM Sans"/>
                <a:ea typeface="DM Sans"/>
                <a:cs typeface="DM Sans"/>
              </a:rPr>
              <a:t>09</a:t>
            </a:r>
          </a:p>
        </p:txBody>
      </p:sp>
      <p:sp>
        <p:nvSpPr>
          <p:cNvPr id="2" name="text-9-72-66">
            <a:extLst xmlns:a="http://schemas.openxmlformats.org/drawingml/2006/main">
              <a:ext uri="{FF2B5EF4-FFF2-40B4-BE49-F238E27FC236}">
                <a16:creationId xmlns:a16="http://schemas.microsoft.com/office/drawing/2014/main" id="{5E9F4234-7162-4AD0-BA83-34ACEDCB6F08}"/>
              </a:ext>
            </a:extLst>
          </p:cNvPr>
          <p:cNvSpPr>
            <a:spLocks xmlns:a="http://schemas.openxmlformats.org/drawingml/2006/main" noGrp="1"/>
          </p:cNvSpPr>
          <p:nvPr/>
        </p:nvSpPr>
        <p:spPr>
          <a:xfrm xmlns:a="http://schemas.openxmlformats.org/drawingml/2006/main">
            <a:off x="685800" y="6286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FFFFFF"/>
                </a:solidFill>
                <a:latin typeface="Poppins"/>
                <a:ea typeface="Poppins"/>
                <a:cs typeface="Poppins"/>
              </a:defRPr>
            </a:pPr>
            <a:r>
              <a:rPr sz="3450" b="0">
                <a:solidFill>
                  <a:srgbClr val="FFFFFF"/>
                </a:solidFill>
                <a:latin typeface="Poppins"/>
                <a:ea typeface="Poppins"/>
                <a:cs typeface="Poppins"/>
              </a:rPr>
              <a:t>Des états cohérents</a:t>
            </a:r>
          </a:p>
        </p:txBody>
      </p:sp>
      <p:sp>
        <p:nvSpPr>
          <p:cNvPr id="3" name="text-9-72-171">
            <a:extLst xmlns:a="http://schemas.openxmlformats.org/drawingml/2006/main">
              <a:ext uri="{FF2B5EF4-FFF2-40B4-BE49-F238E27FC236}">
                <a16:creationId xmlns:a16="http://schemas.microsoft.com/office/drawing/2014/main" id="{A65A5615-92B1-4C8B-8ABE-8F533A8D46C0}"/>
              </a:ext>
            </a:extLst>
          </p:cNvPr>
          <p:cNvSpPr>
            <a:spLocks xmlns:a="http://schemas.openxmlformats.org/drawingml/2006/main" noGrp="1"/>
          </p:cNvSpPr>
          <p:nvPr/>
        </p:nvSpPr>
        <p:spPr>
          <a:xfrm xmlns:a="http://schemas.openxmlformats.org/drawingml/2006/main">
            <a:off x="685800" y="16287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CCDFF6"/>
                </a:solidFill>
                <a:latin typeface="DM Sans"/>
                <a:ea typeface="DM Sans"/>
                <a:cs typeface="DM Sans"/>
              </a:defRPr>
            </a:pPr>
            <a:r>
              <a:rPr sz="2250" b="0">
                <a:solidFill>
                  <a:srgbClr val="CCDFF6"/>
                </a:solidFill>
                <a:latin typeface="DM Sans"/>
                <a:ea typeface="DM Sans"/>
                <a:cs typeface="DM Sans"/>
              </a:rPr>
              <a:t>Chaque action retrouve les données de la même mission.</a:t>
            </a:r>
          </a:p>
        </p:txBody>
      </p:sp>
      <p:sp>
        <p:nvSpPr>
          <p:cNvPr id="4" name="text-9-72-292">
            <a:extLst xmlns:a="http://schemas.openxmlformats.org/drawingml/2006/main">
              <a:ext uri="{FF2B5EF4-FFF2-40B4-BE49-F238E27FC236}">
                <a16:creationId xmlns:a16="http://schemas.microsoft.com/office/drawing/2014/main" id="{FB035011-95B6-443F-BE22-37E18BEE41F4}"/>
              </a:ext>
            </a:extLst>
          </p:cNvPr>
          <p:cNvSpPr>
            <a:spLocks xmlns:a="http://schemas.openxmlformats.org/drawingml/2006/main" noGrp="1"/>
          </p:cNvSpPr>
          <p:nvPr/>
        </p:nvSpPr>
        <p:spPr>
          <a:xfrm xmlns:a="http://schemas.openxmlformats.org/drawingml/2006/main">
            <a:off x="685800" y="2781300"/>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DM Sans"/>
                <a:ea typeface="DM Sans"/>
                <a:cs typeface="DM Sans"/>
              </a:defRPr>
            </a:pPr>
            <a:r>
              <a:rPr sz="2100" b="1">
                <a:solidFill>
                  <a:srgbClr val="FFFFFF"/>
                </a:solidFill>
                <a:latin typeface="DM Sans"/>
                <a:ea typeface="DM Sans"/>
                <a:cs typeface="DM Sans"/>
              </a:rPr>
              <a:t>Horaires réels</a:t>
            </a:r>
          </a:p>
        </p:txBody>
      </p:sp>
      <p:sp>
        <p:nvSpPr>
          <p:cNvPr id="5" name="text-9-72-349">
            <a:extLst xmlns:a="http://schemas.openxmlformats.org/drawingml/2006/main">
              <a:ext uri="{FF2B5EF4-FFF2-40B4-BE49-F238E27FC236}">
                <a16:creationId xmlns:a16="http://schemas.microsoft.com/office/drawing/2014/main" id="{31CEF316-1B73-4204-BE6B-82BD14C8E67C}"/>
              </a:ext>
            </a:extLst>
          </p:cNvPr>
          <p:cNvSpPr>
            <a:spLocks xmlns:a="http://schemas.openxmlformats.org/drawingml/2006/main" noGrp="1"/>
          </p:cNvSpPr>
          <p:nvPr/>
        </p:nvSpPr>
        <p:spPr>
          <a:xfrm xmlns:a="http://schemas.openxmlformats.org/drawingml/2006/main">
            <a:off x="685800" y="332422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CDFF6"/>
                </a:solidFill>
                <a:latin typeface="DM Sans"/>
                <a:ea typeface="DM Sans"/>
                <a:cs typeface="DM Sans"/>
              </a:defRPr>
            </a:pPr>
            <a:r>
              <a:rPr sz="2025" b="0">
                <a:solidFill>
                  <a:srgbClr val="CCDFF6"/>
                </a:solidFill>
                <a:latin typeface="DM Sans"/>
                <a:ea typeface="DM Sans"/>
                <a:cs typeface="DM Sans"/>
              </a:rPr>
              <a:t>Un début unique. Une fin enregistrée à la clôture.</a:t>
            </a:r>
          </a:p>
        </p:txBody>
      </p:sp>
      <p:sp>
        <p:nvSpPr>
          <p:cNvPr id="6" name="text-9-690-292">
            <a:extLst xmlns:a="http://schemas.openxmlformats.org/drawingml/2006/main">
              <a:ext uri="{FF2B5EF4-FFF2-40B4-BE49-F238E27FC236}">
                <a16:creationId xmlns:a16="http://schemas.microsoft.com/office/drawing/2014/main" id="{9067BAB1-B05E-4EF2-ADC9-2910D4DBD436}"/>
              </a:ext>
            </a:extLst>
          </p:cNvPr>
          <p:cNvSpPr>
            <a:spLocks xmlns:a="http://schemas.openxmlformats.org/drawingml/2006/main" noGrp="1"/>
          </p:cNvSpPr>
          <p:nvPr/>
        </p:nvSpPr>
        <p:spPr>
          <a:xfrm xmlns:a="http://schemas.openxmlformats.org/drawingml/2006/main">
            <a:off x="6572250" y="2781300"/>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DM Sans"/>
                <a:ea typeface="DM Sans"/>
                <a:cs typeface="DM Sans"/>
              </a:defRPr>
            </a:pPr>
            <a:r>
              <a:rPr sz="2100" b="1">
                <a:solidFill>
                  <a:srgbClr val="FFFFFF"/>
                </a:solidFill>
                <a:latin typeface="DM Sans"/>
                <a:ea typeface="DM Sans"/>
                <a:cs typeface="DM Sans"/>
              </a:rPr>
              <a:t>Validation du rapport</a:t>
            </a:r>
          </a:p>
        </p:txBody>
      </p:sp>
      <p:sp>
        <p:nvSpPr>
          <p:cNvPr id="7" name="text-9-690-349">
            <a:extLst xmlns:a="http://schemas.openxmlformats.org/drawingml/2006/main">
              <a:ext uri="{FF2B5EF4-FFF2-40B4-BE49-F238E27FC236}">
                <a16:creationId xmlns:a16="http://schemas.microsoft.com/office/drawing/2014/main" id="{B953B603-5390-46A0-893E-748E5A069FD0}"/>
              </a:ext>
            </a:extLst>
          </p:cNvPr>
          <p:cNvSpPr>
            <a:spLocks xmlns:a="http://schemas.openxmlformats.org/drawingml/2006/main" noGrp="1"/>
          </p:cNvSpPr>
          <p:nvPr/>
        </p:nvSpPr>
        <p:spPr>
          <a:xfrm xmlns:a="http://schemas.openxmlformats.org/drawingml/2006/main">
            <a:off x="6572250" y="332422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CDFF6"/>
                </a:solidFill>
                <a:latin typeface="DM Sans"/>
                <a:ea typeface="DM Sans"/>
                <a:cs typeface="DM Sans"/>
              </a:defRPr>
            </a:pPr>
            <a:r>
              <a:rPr sz="2025" b="0">
                <a:solidFill>
                  <a:srgbClr val="CCDFF6"/>
                </a:solidFill>
                <a:latin typeface="DM Sans"/>
                <a:ea typeface="DM Sans"/>
                <a:cs typeface="DM Sans"/>
              </a:rPr>
              <a:t>Les champs obligatoires et les exceptions encadrent la clôture.</a:t>
            </a:r>
          </a:p>
        </p:txBody>
      </p:sp>
      <p:sp>
        <p:nvSpPr>
          <p:cNvPr id="8" name="text-9-72-475">
            <a:extLst xmlns:a="http://schemas.openxmlformats.org/drawingml/2006/main">
              <a:ext uri="{FF2B5EF4-FFF2-40B4-BE49-F238E27FC236}">
                <a16:creationId xmlns:a16="http://schemas.microsoft.com/office/drawing/2014/main" id="{2F63B95D-2627-4CE0-B7A6-166D509B9A62}"/>
              </a:ext>
            </a:extLst>
          </p:cNvPr>
          <p:cNvSpPr>
            <a:spLocks xmlns:a="http://schemas.openxmlformats.org/drawingml/2006/main" noGrp="1"/>
          </p:cNvSpPr>
          <p:nvPr/>
        </p:nvSpPr>
        <p:spPr>
          <a:xfrm xmlns:a="http://schemas.openxmlformats.org/drawingml/2006/main">
            <a:off x="685800" y="452437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DM Sans"/>
                <a:ea typeface="DM Sans"/>
                <a:cs typeface="DM Sans"/>
              </a:defRPr>
            </a:pPr>
            <a:r>
              <a:rPr sz="2100" b="1">
                <a:solidFill>
                  <a:srgbClr val="FFFFFF"/>
                </a:solidFill>
                <a:latin typeface="DM Sans"/>
                <a:ea typeface="DM Sans"/>
                <a:cs typeface="DM Sans"/>
              </a:rPr>
              <a:t>Données par employé</a:t>
            </a:r>
          </a:p>
        </p:txBody>
      </p:sp>
      <p:sp>
        <p:nvSpPr>
          <p:cNvPr id="9" name="text-9-72-532">
            <a:extLst xmlns:a="http://schemas.openxmlformats.org/drawingml/2006/main">
              <a:ext uri="{FF2B5EF4-FFF2-40B4-BE49-F238E27FC236}">
                <a16:creationId xmlns:a16="http://schemas.microsoft.com/office/drawing/2014/main" id="{6EF67A31-0184-4E88-B749-F8CF7A0FB577}"/>
              </a:ext>
            </a:extLst>
          </p:cNvPr>
          <p:cNvSpPr>
            <a:spLocks xmlns:a="http://schemas.openxmlformats.org/drawingml/2006/main" noGrp="1"/>
          </p:cNvSpPr>
          <p:nvPr/>
        </p:nvSpPr>
        <p:spPr>
          <a:xfrm xmlns:a="http://schemas.openxmlformats.org/drawingml/2006/main">
            <a:off x="685800" y="50673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CDFF6"/>
                </a:solidFill>
                <a:latin typeface="DM Sans"/>
                <a:ea typeface="DM Sans"/>
                <a:cs typeface="DM Sans"/>
              </a:defRPr>
            </a:pPr>
            <a:r>
              <a:rPr sz="2025" b="0">
                <a:solidFill>
                  <a:srgbClr val="CCDFF6"/>
                </a:solidFill>
                <a:latin typeface="DM Sans"/>
                <a:ea typeface="DM Sans"/>
                <a:cs typeface="DM Sans"/>
              </a:rPr>
              <a:t>Le changement de compte purge les informations privées.</a:t>
            </a:r>
          </a:p>
        </p:txBody>
      </p:sp>
      <p:sp>
        <p:nvSpPr>
          <p:cNvPr id="10" name="text-9-690-475">
            <a:extLst xmlns:a="http://schemas.openxmlformats.org/drawingml/2006/main">
              <a:ext uri="{FF2B5EF4-FFF2-40B4-BE49-F238E27FC236}">
                <a16:creationId xmlns:a16="http://schemas.microsoft.com/office/drawing/2014/main" id="{C3D2C6EB-64E7-4724-BFE5-C555C57EEF2F}"/>
              </a:ext>
            </a:extLst>
          </p:cNvPr>
          <p:cNvSpPr>
            <a:spLocks xmlns:a="http://schemas.openxmlformats.org/drawingml/2006/main" noGrp="1"/>
          </p:cNvSpPr>
          <p:nvPr/>
        </p:nvSpPr>
        <p:spPr>
          <a:xfrm xmlns:a="http://schemas.openxmlformats.org/drawingml/2006/main">
            <a:off x="6572250" y="452437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DM Sans"/>
                <a:ea typeface="DM Sans"/>
                <a:cs typeface="DM Sans"/>
              </a:defRPr>
            </a:pPr>
            <a:r>
              <a:rPr sz="2100" b="1">
                <a:solidFill>
                  <a:srgbClr val="FFFFFF"/>
                </a:solidFill>
                <a:latin typeface="DM Sans"/>
                <a:ea typeface="DM Sans"/>
                <a:cs typeface="DM Sans"/>
              </a:rPr>
              <a:t>Parcours existants</a:t>
            </a:r>
          </a:p>
        </p:txBody>
      </p:sp>
      <p:sp>
        <p:nvSpPr>
          <p:cNvPr id="11" name="text-9-690-532">
            <a:extLst xmlns:a="http://schemas.openxmlformats.org/drawingml/2006/main">
              <a:ext uri="{FF2B5EF4-FFF2-40B4-BE49-F238E27FC236}">
                <a16:creationId xmlns:a16="http://schemas.microsoft.com/office/drawing/2014/main" id="{71C3D506-5A16-40AD-A585-F14DF31A88D1}"/>
              </a:ext>
            </a:extLst>
          </p:cNvPr>
          <p:cNvSpPr>
            <a:spLocks xmlns:a="http://schemas.openxmlformats.org/drawingml/2006/main" noGrp="1"/>
          </p:cNvSpPr>
          <p:nvPr/>
        </p:nvSpPr>
        <p:spPr>
          <a:xfrm xmlns:a="http://schemas.openxmlformats.org/drawingml/2006/main">
            <a:off x="6572250" y="50673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CDFF6"/>
                </a:solidFill>
                <a:latin typeface="DM Sans"/>
                <a:ea typeface="DM Sans"/>
                <a:cs typeface="DM Sans"/>
              </a:defRPr>
            </a:pPr>
            <a:r>
              <a:rPr sz="2025" b="0">
                <a:solidFill>
                  <a:srgbClr val="CCDFF6"/>
                </a:solidFill>
                <a:latin typeface="DM Sans"/>
                <a:ea typeface="DM Sans"/>
                <a:cs typeface="DM Sans"/>
              </a:rPr>
              <a:t>La connexion et les espaces client et employeur restent en place.</a:t>
            </a:r>
          </a:p>
        </p:txBody>
      </p:sp>
    </p:spTree>
    <p:extLst>
      <p:ext uri="{BB962C8B-B14F-4D97-AF65-F5344CB8AC3E}">
        <p14:creationId xmlns:p14="http://schemas.microsoft.com/office/powerpoint/2010/main" val="1168012391"/>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text-10-1180-675">
            <a:extLst xmlns:a="http://schemas.openxmlformats.org/drawingml/2006/main">
              <a:ext uri="{FF2B5EF4-FFF2-40B4-BE49-F238E27FC236}">
                <a16:creationId xmlns:a16="http://schemas.microsoft.com/office/drawing/2014/main" id="{355EC7C3-C4D3-4BD2-BA2A-BE6F7507AC3E}"/>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D"/>
                </a:solidFill>
                <a:latin typeface="DM Sans"/>
                <a:ea typeface="DM Sans"/>
                <a:cs typeface="DM Sans"/>
              </a:defRPr>
            </a:pPr>
            <a:r>
              <a:rPr sz="1200" b="0">
                <a:solidFill>
                  <a:srgbClr val="52657D"/>
                </a:solidFill>
                <a:latin typeface="DM Sans"/>
                <a:ea typeface="DM Sans"/>
                <a:cs typeface="DM Sans"/>
              </a:rPr>
              <a:t>10</a:t>
            </a:r>
          </a:p>
        </p:txBody>
      </p:sp>
      <p:sp>
        <p:nvSpPr>
          <p:cNvPr id="2" name="text-10-72-64">
            <a:extLst xmlns:a="http://schemas.openxmlformats.org/drawingml/2006/main">
              <a:ext uri="{FF2B5EF4-FFF2-40B4-BE49-F238E27FC236}">
                <a16:creationId xmlns:a16="http://schemas.microsoft.com/office/drawing/2014/main" id="{B5F78BAD-6C2E-4668-98D2-AFECB26BED05}"/>
              </a:ext>
            </a:extLst>
          </p:cNvPr>
          <p:cNvSpPr>
            <a:spLocks xmlns:a="http://schemas.openxmlformats.org/drawingml/2006/main" noGrp="1"/>
          </p:cNvSpPr>
          <p:nvPr/>
        </p:nvSpPr>
        <p:spPr>
          <a:xfrm xmlns:a="http://schemas.openxmlformats.org/drawingml/2006/main">
            <a:off x="685800" y="6096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A1A2E"/>
                </a:solidFill>
                <a:latin typeface="Poppins"/>
                <a:ea typeface="Poppins"/>
                <a:cs typeface="Poppins"/>
              </a:defRPr>
            </a:pPr>
            <a:r>
              <a:rPr sz="3450" b="0">
                <a:solidFill>
                  <a:srgbClr val="1A1A2E"/>
                </a:solidFill>
                <a:latin typeface="Poppins"/>
                <a:ea typeface="Poppins"/>
                <a:cs typeface="Poppins"/>
              </a:rPr>
              <a:t>Accès à la démonstration</a:t>
            </a:r>
          </a:p>
        </p:txBody>
      </p:sp>
      <p:sp>
        <p:nvSpPr>
          <p:cNvPr id="3" name="text-10-72-206">
            <a:extLst xmlns:a="http://schemas.openxmlformats.org/drawingml/2006/main">
              <a:ext uri="{FF2B5EF4-FFF2-40B4-BE49-F238E27FC236}">
                <a16:creationId xmlns:a16="http://schemas.microsoft.com/office/drawing/2014/main" id="{67FBB306-95FE-4B2B-AC10-4FFCA72F4103}"/>
              </a:ext>
            </a:extLst>
          </p:cNvPr>
          <p:cNvSpPr>
            <a:spLocks xmlns:a="http://schemas.openxmlformats.org/drawingml/2006/main" noGrp="1"/>
          </p:cNvSpPr>
          <p:nvPr/>
        </p:nvSpPr>
        <p:spPr>
          <a:xfrm xmlns:a="http://schemas.openxmlformats.org/drawingml/2006/main">
            <a:off x="685800" y="196215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65C0"/>
                </a:solidFill>
                <a:latin typeface="DM Sans"/>
                <a:ea typeface="DM Sans"/>
                <a:cs typeface="DM Sans"/>
              </a:defRPr>
            </a:pPr>
            <a:r>
              <a:rPr sz="2175" b="1">
                <a:solidFill>
                  <a:srgbClr val="1565C0"/>
                </a:solidFill>
                <a:latin typeface="DM Sans"/>
                <a:ea typeface="DM Sans"/>
                <a:cs typeface="DM Sans"/>
              </a:rPr>
              <a:t>Compte employé</a:t>
            </a:r>
          </a:p>
        </p:txBody>
      </p:sp>
      <p:sp>
        <p:nvSpPr>
          <p:cNvPr id="4" name="text-10-72-277">
            <a:extLst xmlns:a="http://schemas.openxmlformats.org/drawingml/2006/main">
              <a:ext uri="{FF2B5EF4-FFF2-40B4-BE49-F238E27FC236}">
                <a16:creationId xmlns:a16="http://schemas.microsoft.com/office/drawing/2014/main" id="{549F2671-7212-4BED-97A2-DC493FFA3704}"/>
              </a:ext>
            </a:extLst>
          </p:cNvPr>
          <p:cNvSpPr>
            <a:spLocks xmlns:a="http://schemas.openxmlformats.org/drawingml/2006/main" noGrp="1"/>
          </p:cNvSpPr>
          <p:nvPr/>
        </p:nvSpPr>
        <p:spPr>
          <a:xfrm xmlns:a="http://schemas.openxmlformats.org/drawingml/2006/main">
            <a:off x="685800" y="26384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A1A2E"/>
                </a:solidFill>
                <a:latin typeface="DM Sans"/>
                <a:ea typeface="DM Sans"/>
                <a:cs typeface="DM Sans"/>
              </a:defRPr>
            </a:pPr>
            <a:r>
              <a:rPr sz="2175" b="0">
                <a:solidFill>
                  <a:srgbClr val="1A1A2E"/>
                </a:solidFill>
                <a:latin typeface="DM Sans"/>
                <a:ea typeface="DM Sans"/>
                <a:cs typeface="DM Sans"/>
              </a:rPr>
              <a:t>employee@magicpro.demo</a:t>
            </a:r>
          </a:p>
        </p:txBody>
      </p:sp>
      <p:sp>
        <p:nvSpPr>
          <p:cNvPr id="5" name="text-10-72-342">
            <a:extLst xmlns:a="http://schemas.openxmlformats.org/drawingml/2006/main">
              <a:ext uri="{FF2B5EF4-FFF2-40B4-BE49-F238E27FC236}">
                <a16:creationId xmlns:a16="http://schemas.microsoft.com/office/drawing/2014/main" id="{5217D1CA-2501-4AD5-8273-A34DBED1E449}"/>
              </a:ext>
            </a:extLst>
          </p:cNvPr>
          <p:cNvSpPr>
            <a:spLocks xmlns:a="http://schemas.openxmlformats.org/drawingml/2006/main" noGrp="1"/>
          </p:cNvSpPr>
          <p:nvPr/>
        </p:nvSpPr>
        <p:spPr>
          <a:xfrm xmlns:a="http://schemas.openxmlformats.org/drawingml/2006/main">
            <a:off x="685800" y="325755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A1A2E"/>
                </a:solidFill>
                <a:latin typeface="DM Sans"/>
                <a:ea typeface="DM Sans"/>
                <a:cs typeface="DM Sans"/>
              </a:defRPr>
            </a:pPr>
            <a:r>
              <a:rPr sz="2025" b="0">
                <a:solidFill>
                  <a:srgbClr val="1A1A2E"/>
                </a:solidFill>
                <a:latin typeface="DM Sans"/>
                <a:ea typeface="DM Sans"/>
                <a:cs typeface="DM Sans"/>
              </a:rPr>
              <a:t>Mot de passe : MagicPro!2026</a:t>
            </a:r>
          </a:p>
        </p:txBody>
      </p:sp>
      <p:sp>
        <p:nvSpPr>
          <p:cNvPr id="6" name="text-10-72-407">
            <a:extLst xmlns:a="http://schemas.openxmlformats.org/drawingml/2006/main">
              <a:ext uri="{FF2B5EF4-FFF2-40B4-BE49-F238E27FC236}">
                <a16:creationId xmlns:a16="http://schemas.microsoft.com/office/drawing/2014/main" id="{19552C89-1EB0-44A9-9583-653928AE179B}"/>
              </a:ext>
            </a:extLst>
          </p:cNvPr>
          <p:cNvSpPr>
            <a:spLocks xmlns:a="http://schemas.openxmlformats.org/drawingml/2006/main" noGrp="1"/>
          </p:cNvSpPr>
          <p:nvPr/>
        </p:nvSpPr>
        <p:spPr>
          <a:xfrm xmlns:a="http://schemas.openxmlformats.org/drawingml/2006/main">
            <a:off x="685800" y="38766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A1A2E"/>
                </a:solidFill>
                <a:latin typeface="DM Sans"/>
                <a:ea typeface="DM Sans"/>
                <a:cs typeface="DM Sans"/>
              </a:defRPr>
            </a:pPr>
            <a:r>
              <a:rPr sz="2025" b="0">
                <a:solidFill>
                  <a:srgbClr val="1A1A2E"/>
                </a:solidFill>
                <a:latin typeface="DM Sans"/>
                <a:ea typeface="DM Sans"/>
                <a:cs typeface="DM Sans"/>
              </a:rPr>
              <a:t>Code de vérification : 123456</a:t>
            </a:r>
          </a:p>
        </p:txBody>
      </p:sp>
      <p:sp>
        <p:nvSpPr>
          <p:cNvPr id="7" name="text-10-695-206">
            <a:extLst xmlns:a="http://schemas.openxmlformats.org/drawingml/2006/main">
              <a:ext uri="{FF2B5EF4-FFF2-40B4-BE49-F238E27FC236}">
                <a16:creationId xmlns:a16="http://schemas.microsoft.com/office/drawing/2014/main" id="{4FF88C2D-6878-4E3E-9250-60A1866B6737}"/>
              </a:ext>
            </a:extLst>
          </p:cNvPr>
          <p:cNvSpPr>
            <a:spLocks xmlns:a="http://schemas.openxmlformats.org/drawingml/2006/main" noGrp="1"/>
          </p:cNvSpPr>
          <p:nvPr/>
        </p:nvSpPr>
        <p:spPr>
          <a:xfrm xmlns:a="http://schemas.openxmlformats.org/drawingml/2006/main">
            <a:off x="6619875" y="1962150"/>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65C0"/>
                </a:solidFill>
                <a:latin typeface="DM Sans"/>
                <a:ea typeface="DM Sans"/>
                <a:cs typeface="DM Sans"/>
              </a:defRPr>
            </a:pPr>
            <a:r>
              <a:rPr sz="2175" b="1">
                <a:solidFill>
                  <a:srgbClr val="1565C0"/>
                </a:solidFill>
                <a:latin typeface="DM Sans"/>
                <a:ea typeface="DM Sans"/>
                <a:cs typeface="DM Sans"/>
              </a:rPr>
              <a:t>Une démonstration locale</a:t>
            </a:r>
          </a:p>
        </p:txBody>
      </p:sp>
      <p:sp>
        <p:nvSpPr>
          <p:cNvPr id="8" name="text-10-695-277">
            <a:extLst xmlns:a="http://schemas.openxmlformats.org/drawingml/2006/main">
              <a:ext uri="{FF2B5EF4-FFF2-40B4-BE49-F238E27FC236}">
                <a16:creationId xmlns:a16="http://schemas.microsoft.com/office/drawing/2014/main" id="{B92F237C-B4E2-4932-8C23-90323B18EBF0}"/>
              </a:ext>
            </a:extLst>
          </p:cNvPr>
          <p:cNvSpPr>
            <a:spLocks xmlns:a="http://schemas.openxmlformats.org/drawingml/2006/main" noGrp="1"/>
          </p:cNvSpPr>
          <p:nvPr/>
        </p:nvSpPr>
        <p:spPr>
          <a:xfrm xmlns:a="http://schemas.openxmlformats.org/drawingml/2006/main">
            <a:off x="6619875" y="2638425"/>
            <a:ext cx="4810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Les missions et photos restent en mémoire. Une déconnexion ou un rechargement les réinitialise.</a:t>
            </a:r>
          </a:p>
        </p:txBody>
      </p:sp>
      <p:sp>
        <p:nvSpPr>
          <p:cNvPr id="9" name="text-10-695-444">
            <a:extLst xmlns:a="http://schemas.openxmlformats.org/drawingml/2006/main">
              <a:ext uri="{FF2B5EF4-FFF2-40B4-BE49-F238E27FC236}">
                <a16:creationId xmlns:a16="http://schemas.microsoft.com/office/drawing/2014/main" id="{21D2104D-49F0-4281-8947-CBDAB3F963D4}"/>
              </a:ext>
            </a:extLst>
          </p:cNvPr>
          <p:cNvSpPr>
            <a:spLocks xmlns:a="http://schemas.openxmlformats.org/drawingml/2006/main" noGrp="1"/>
          </p:cNvSpPr>
          <p:nvPr/>
        </p:nvSpPr>
        <p:spPr>
          <a:xfrm xmlns:a="http://schemas.openxmlformats.org/drawingml/2006/main">
            <a:off x="6619875" y="4229100"/>
            <a:ext cx="4810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D"/>
                </a:solidFill>
                <a:latin typeface="DM Sans"/>
                <a:ea typeface="DM Sans"/>
                <a:cs typeface="DM Sans"/>
              </a:defRPr>
            </a:pPr>
            <a:r>
              <a:rPr sz="1950" b="0">
                <a:solidFill>
                  <a:srgbClr val="52657D"/>
                </a:solidFill>
                <a:latin typeface="DM Sans"/>
                <a:ea typeface="DM Sans"/>
                <a:cs typeface="DM Sans"/>
              </a:rPr>
              <a:t>À connecter : API des missions, sauvegarde des rapports et téléversement des photos.</a:t>
            </a:r>
          </a:p>
        </p:txBody>
      </p:sp>
      <p:sp>
        <p:nvSpPr>
          <p:cNvPr id="10" name="text-10-72-614">
            <a:extLst xmlns:a="http://schemas.openxmlformats.org/drawingml/2006/main">
              <a:ext uri="{FF2B5EF4-FFF2-40B4-BE49-F238E27FC236}">
                <a16:creationId xmlns:a16="http://schemas.microsoft.com/office/drawing/2014/main" id="{451E5E45-EF7F-4A0E-ACC9-AFC42CDF7CB2}"/>
              </a:ext>
            </a:extLst>
          </p:cNvPr>
          <p:cNvSpPr>
            <a:spLocks xmlns:a="http://schemas.openxmlformats.org/drawingml/2006/main" noGrp="1"/>
          </p:cNvSpPr>
          <p:nvPr/>
        </p:nvSpPr>
        <p:spPr>
          <a:xfrm xmlns:a="http://schemas.openxmlformats.org/drawingml/2006/main">
            <a:off x="685800" y="584835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57D"/>
                </a:solidFill>
                <a:latin typeface="DM Sans"/>
                <a:ea typeface="DM Sans"/>
                <a:cs typeface="DM Sans"/>
              </a:defRPr>
            </a:pPr>
            <a:r>
              <a:rPr sz="1500" b="0">
                <a:solidFill>
                  <a:srgbClr val="52657D"/>
                </a:solidFill>
                <a:latin typeface="DM Sans"/>
                <a:ea typeface="DM Sans"/>
                <a:cs typeface="DM Sans"/>
              </a:rPr>
              <a:t>Captures de l’aperçu Expo Web au format téléphone. Les essais Expo Go sur iPhone et Android restent à réaliser.</a:t>
            </a:r>
          </a:p>
        </p:txBody>
      </p:sp>
    </p:spTree>
    <p:extLst>
      <p:ext uri="{BB962C8B-B14F-4D97-AF65-F5344CB8AC3E}">
        <p14:creationId xmlns:p14="http://schemas.microsoft.com/office/powerpoint/2010/main" val="343980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2026-10-07T19:02:02.5220000Z</dcterms:created>
  <dcterms:modified xsi:type="dcterms:W3CDTF">2026-10-07T19:02:02.5220000Z</dcterms:modified>
</coreProperties>
</file>